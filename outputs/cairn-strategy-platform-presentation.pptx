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32a3d692434dcd" /><Relationship Type="http://schemas.openxmlformats.org/officeDocument/2006/relationships/extended-properties" Target="/docProps/app.xml" Id="R83d8cd2eb2ab45dd" /><Relationship Type="http://schemas.openxmlformats.org/officeDocument/2006/relationships/officeDocument" Target="/ppt/presentation.xml" Id="R796ee53f12fd4e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3f6fba95a04d9d"/>
  </p:sldMasterIdLst>
  <p:notesMasterIdLst>
    <p:notesMasterId xmlns:r="http://schemas.openxmlformats.org/officeDocument/2006/relationships" r:id="R8b90233393da47b7"/>
  </p:notesMasterIdLst>
  <p:sldIdLst>
    <p:sldId xmlns:r="http://schemas.openxmlformats.org/officeDocument/2006/relationships" id="256" r:id="R1f7f18411b584ce8"/>
    <p:sldId xmlns:r="http://schemas.openxmlformats.org/officeDocument/2006/relationships" id="257" r:id="Rd633906d37c5418d"/>
    <p:sldId xmlns:r="http://schemas.openxmlformats.org/officeDocument/2006/relationships" id="258" r:id="Rb7c7182f555a4777"/>
    <p:sldId xmlns:r="http://schemas.openxmlformats.org/officeDocument/2006/relationships" id="259" r:id="R02bb2c984f56439b"/>
    <p:sldId xmlns:r="http://schemas.openxmlformats.org/officeDocument/2006/relationships" id="260" r:id="R0fb56a42acf44c43"/>
    <p:sldId xmlns:r="http://schemas.openxmlformats.org/officeDocument/2006/relationships" id="261" r:id="Rbfeebaffe4954de2"/>
    <p:sldId xmlns:r="http://schemas.openxmlformats.org/officeDocument/2006/relationships" id="262" r:id="Re13eb306458d4e49"/>
    <p:sldId xmlns:r="http://schemas.openxmlformats.org/officeDocument/2006/relationships" id="263" r:id="Rdc237817a90246b5"/>
    <p:sldId xmlns:r="http://schemas.openxmlformats.org/officeDocument/2006/relationships" id="264" r:id="R66e19fe04f114d91"/>
    <p:sldId xmlns:r="http://schemas.openxmlformats.org/officeDocument/2006/relationships" id="265" r:id="Rcf22e4b01b104ace"/>
    <p:sldId xmlns:r="http://schemas.openxmlformats.org/officeDocument/2006/relationships" id="266" r:id="R9990e060b6d44165"/>
    <p:sldId xmlns:r="http://schemas.openxmlformats.org/officeDocument/2006/relationships" id="267" r:id="R86f2a9ad8c7342c7"/>
    <p:sldId xmlns:r="http://schemas.openxmlformats.org/officeDocument/2006/relationships" id="268" r:id="R9064da4c7255443d"/>
    <p:sldId xmlns:r="http://schemas.openxmlformats.org/officeDocument/2006/relationships" id="269" r:id="Rbf2e91486d4b464f"/>
    <p:sldId xmlns:r="http://schemas.openxmlformats.org/officeDocument/2006/relationships" id="270" r:id="Rbc5912c5aca246db"/>
    <p:sldId xmlns:r="http://schemas.openxmlformats.org/officeDocument/2006/relationships" id="271" r:id="R4015473539754305"/>
    <p:sldId xmlns:r="http://schemas.openxmlformats.org/officeDocument/2006/relationships" id="272" r:id="R1292bcf3a67c4cce"/>
    <p:sldId xmlns:r="http://schemas.openxmlformats.org/officeDocument/2006/relationships" id="273" r:id="R6b0fa3221b1a4a65"/>
    <p:sldId xmlns:r="http://schemas.openxmlformats.org/officeDocument/2006/relationships" id="274" r:id="Rd7b1ea4aa9824eaf"/>
    <p:sldId xmlns:r="http://schemas.openxmlformats.org/officeDocument/2006/relationships" id="275" r:id="R9d01f070f7734239"/>
    <p:sldId xmlns:r="http://schemas.openxmlformats.org/officeDocument/2006/relationships" id="276" r:id="R99f10259c06946ab"/>
    <p:sldId xmlns:r="http://schemas.openxmlformats.org/officeDocument/2006/relationships" id="277" r:id="R5409939edaec4ae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56b9c958e348d1" /><Relationship Type="http://schemas.openxmlformats.org/officeDocument/2006/relationships/slideMaster" Target="/ppt/slideMasters/slideMaster1.xml" Id="R993f6fba95a04d9d" /><Relationship Type="http://schemas.openxmlformats.org/officeDocument/2006/relationships/notesMaster" Target="/ppt/notesMasters/notesMaster1.xml" Id="R8b90233393da47b7" /><Relationship Type="http://schemas.openxmlformats.org/officeDocument/2006/relationships/presProps" Target="/ppt/presProps.xml" Id="R537eb79740a540e7" /><Relationship Type="http://schemas.openxmlformats.org/officeDocument/2006/relationships/tableStyles" Target="/ppt/tableStyles.xml" Id="Rb0000fcba42b4494" /><Relationship Type="http://schemas.openxmlformats.org/officeDocument/2006/relationships/slide" Target="/ppt/slides/slide1.xml" Id="R1f7f18411b584ce8" /><Relationship Type="http://schemas.openxmlformats.org/officeDocument/2006/relationships/slide" Target="/ppt/slides/slide2.xml" Id="Rd633906d37c5418d" /><Relationship Type="http://schemas.openxmlformats.org/officeDocument/2006/relationships/slide" Target="/ppt/slides/slide3.xml" Id="Rb7c7182f555a4777" /><Relationship Type="http://schemas.openxmlformats.org/officeDocument/2006/relationships/slide" Target="/ppt/slides/slide4.xml" Id="R02bb2c984f56439b" /><Relationship Type="http://schemas.openxmlformats.org/officeDocument/2006/relationships/slide" Target="/ppt/slides/slide5.xml" Id="R0fb56a42acf44c43" /><Relationship Type="http://schemas.openxmlformats.org/officeDocument/2006/relationships/slide" Target="/ppt/slides/slide6.xml" Id="Rbfeebaffe4954de2" /><Relationship Type="http://schemas.openxmlformats.org/officeDocument/2006/relationships/slide" Target="/ppt/slides/slide7.xml" Id="Re13eb306458d4e49" /><Relationship Type="http://schemas.openxmlformats.org/officeDocument/2006/relationships/slide" Target="/ppt/slides/slide8.xml" Id="Rdc237817a90246b5" /><Relationship Type="http://schemas.openxmlformats.org/officeDocument/2006/relationships/slide" Target="/ppt/slides/slide9.xml" Id="R66e19fe04f114d91" /><Relationship Type="http://schemas.openxmlformats.org/officeDocument/2006/relationships/slide" Target="/ppt/slides/slide10.xml" Id="Rcf22e4b01b104ace" /><Relationship Type="http://schemas.openxmlformats.org/officeDocument/2006/relationships/slide" Target="/ppt/slides/slide11.xml" Id="R9990e060b6d44165" /><Relationship Type="http://schemas.openxmlformats.org/officeDocument/2006/relationships/slide" Target="/ppt/slides/slide12.xml" Id="R86f2a9ad8c7342c7" /><Relationship Type="http://schemas.openxmlformats.org/officeDocument/2006/relationships/slide" Target="/ppt/slides/slide13.xml" Id="R9064da4c7255443d" /><Relationship Type="http://schemas.openxmlformats.org/officeDocument/2006/relationships/slide" Target="/ppt/slides/slide14.xml" Id="Rbf2e91486d4b464f" /><Relationship Type="http://schemas.openxmlformats.org/officeDocument/2006/relationships/slide" Target="/ppt/slides/slide15.xml" Id="Rbc5912c5aca246db" /><Relationship Type="http://schemas.openxmlformats.org/officeDocument/2006/relationships/slide" Target="/ppt/slides/slide16.xml" Id="R4015473539754305" /><Relationship Type="http://schemas.openxmlformats.org/officeDocument/2006/relationships/slide" Target="/ppt/slides/slide17.xml" Id="R1292bcf3a67c4cce" /><Relationship Type="http://schemas.openxmlformats.org/officeDocument/2006/relationships/slide" Target="/ppt/slides/slide18.xml" Id="R6b0fa3221b1a4a65" /><Relationship Type="http://schemas.openxmlformats.org/officeDocument/2006/relationships/slide" Target="/ppt/slides/slide19.xml" Id="Rd7b1ea4aa9824eaf" /><Relationship Type="http://schemas.openxmlformats.org/officeDocument/2006/relationships/slide" Target="/ppt/slides/slide20.xml" Id="R9d01f070f7734239" /><Relationship Type="http://schemas.openxmlformats.org/officeDocument/2006/relationships/slide" Target="/ppt/slides/slide21.xml" Id="R99f10259c06946ab" /><Relationship Type="http://schemas.openxmlformats.org/officeDocument/2006/relationships/slide" Target="/ppt/slides/slide22.xml" Id="R5409939edaec4a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c230d3d18d43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41ff7a2b834ee1" /><Relationship Type="http://schemas.openxmlformats.org/officeDocument/2006/relationships/notesMaster" Target="/ppt/notesMasters/notesMaster1.xml" Id="R4fca0e89507641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8f6858c7ec45c1" /><Relationship Type="http://schemas.openxmlformats.org/officeDocument/2006/relationships/notesMaster" Target="/ppt/notesMasters/notesMaster1.xml" Id="R8d0f415d0b1548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922961ce3741b3" /><Relationship Type="http://schemas.openxmlformats.org/officeDocument/2006/relationships/notesMaster" Target="/ppt/notesMasters/notesMaster1.xml" Id="R9ba69476a28e4e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4ce421f4be4377" /><Relationship Type="http://schemas.openxmlformats.org/officeDocument/2006/relationships/notesMaster" Target="/ppt/notesMasters/notesMaster1.xml" Id="R15b8c6db144543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373ee2a13d4df5" /><Relationship Type="http://schemas.openxmlformats.org/officeDocument/2006/relationships/notesMaster" Target="/ppt/notesMasters/notesMaster1.xml" Id="R7f65205306094f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eb6a6a94124332" /><Relationship Type="http://schemas.openxmlformats.org/officeDocument/2006/relationships/notesMaster" Target="/ppt/notesMasters/notesMaster1.xml" Id="R5cdd87d46b9943f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c11bd6d8614e47" /><Relationship Type="http://schemas.openxmlformats.org/officeDocument/2006/relationships/notesMaster" Target="/ppt/notesMasters/notesMaster1.xml" Id="Ra0a19714fa8142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46818ec6494d5b" /><Relationship Type="http://schemas.openxmlformats.org/officeDocument/2006/relationships/notesMaster" Target="/ppt/notesMasters/notesMaster1.xml" Id="R5ebe946613d541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e3f68efda84f37" /><Relationship Type="http://schemas.openxmlformats.org/officeDocument/2006/relationships/notesMaster" Target="/ppt/notesMasters/notesMaster1.xml" Id="R9bcedfdf04bf48c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742b8e07894c4a" /><Relationship Type="http://schemas.openxmlformats.org/officeDocument/2006/relationships/notesMaster" Target="/ppt/notesMasters/notesMaster1.xml" Id="Rffe17484594e423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a9c38a299ad4ed1" /><Relationship Type="http://schemas.openxmlformats.org/officeDocument/2006/relationships/notesMaster" Target="/ppt/notesMasters/notesMaster1.xml" Id="Rad2d5a135726414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c8cab5e4cd74b2e" /><Relationship Type="http://schemas.openxmlformats.org/officeDocument/2006/relationships/notesMaster" Target="/ppt/notesMasters/notesMaster1.xml" Id="Rd14ce0dbbf074d2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57b419bf15341d7" /><Relationship Type="http://schemas.openxmlformats.org/officeDocument/2006/relationships/notesMaster" Target="/ppt/notesMasters/notesMaster1.xml" Id="Rad56764d7c504f9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1ca1d0f8ba44513" /><Relationship Type="http://schemas.openxmlformats.org/officeDocument/2006/relationships/notesMaster" Target="/ppt/notesMasters/notesMaster1.xml" Id="Raac57524b9254dd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6b1d5aec0934360" /><Relationship Type="http://schemas.openxmlformats.org/officeDocument/2006/relationships/notesMaster" Target="/ppt/notesMasters/notesMaster1.xml" Id="R88585be0bba044e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c08da9496e34851" /><Relationship Type="http://schemas.openxmlformats.org/officeDocument/2006/relationships/notesMaster" Target="/ppt/notesMasters/notesMaster1.xml" Id="Re74fa54327d7465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99b618b2b1d49bc" /><Relationship Type="http://schemas.openxmlformats.org/officeDocument/2006/relationships/notesMaster" Target="/ppt/notesMasters/notesMaster1.xml" Id="R89a68c4b208744b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da33c81dd8747ac" /><Relationship Type="http://schemas.openxmlformats.org/officeDocument/2006/relationships/notesMaster" Target="/ppt/notesMasters/notesMaster1.xml" Id="R45f8b456e25d491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6709da9643a4648" /><Relationship Type="http://schemas.openxmlformats.org/officeDocument/2006/relationships/notesMaster" Target="/ppt/notesMasters/notesMaster1.xml" Id="R7ca3be6deb37480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a78b4caee754a3d" /><Relationship Type="http://schemas.openxmlformats.org/officeDocument/2006/relationships/notesMaster" Target="/ppt/notesMasters/notesMaster1.xml" Id="R4bc08ef043c945d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306e9da2ae043d7" /><Relationship Type="http://schemas.openxmlformats.org/officeDocument/2006/relationships/notesMaster" Target="/ppt/notesMasters/notesMaster1.xml" Id="Ra4101acb655e4db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10fb2cede82436d" /><Relationship Type="http://schemas.openxmlformats.org/officeDocument/2006/relationships/notesMaster" Target="/ppt/notesMasters/notesMaster1.xml" Id="R29e03163d75a4d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c15898870d4e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c2e346dee04fd8" /><Relationship Type="http://schemas.openxmlformats.org/officeDocument/2006/relationships/slideLayout" Target="/ppt/slideLayouts/slideLayout1.xml" Id="R065acfe98eb440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5acfe98eb440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11b567d794490" /><Relationship Type="http://schemas.openxmlformats.org/officeDocument/2006/relationships/image" Target="/ppt/media/image.png" Id="Rdc5665c8ddf548ca" /><Relationship Type="http://schemas.openxmlformats.org/officeDocument/2006/relationships/notesSlide" Target="/ppt/notesSlides/notesSlide1.xml" Id="R8a5c3ba1b2f849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40b1cfc3b44f7" /><Relationship Type="http://schemas.openxmlformats.org/officeDocument/2006/relationships/notesSlide" Target="/ppt/notesSlides/notesSlide2.xml" Id="R2ca2d0a086394d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604734b2a34aee" /><Relationship Type="http://schemas.openxmlformats.org/officeDocument/2006/relationships/notesSlide" Target="/ppt/notesSlides/notesSlide3.xml" Id="R58ed83f81b084d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497708bfd49f6" /><Relationship Type="http://schemas.openxmlformats.org/officeDocument/2006/relationships/notesSlide" Target="/ppt/notesSlides/notesSlide4.xml" Id="R1de3db9fad8e42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6e9a7f103b4789" /><Relationship Type="http://schemas.openxmlformats.org/officeDocument/2006/relationships/notesSlide" Target="/ppt/notesSlides/notesSlide5.xml" Id="R946db87bca9443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5b164d52d447be" /><Relationship Type="http://schemas.openxmlformats.org/officeDocument/2006/relationships/image" Target="/ppt/media/image2.png" Id="Rb4fdc1d1b1724e9e" /><Relationship Type="http://schemas.openxmlformats.org/officeDocument/2006/relationships/image" Target="/ppt/media/image3.png" Id="R96be9394230148e9" /><Relationship Type="http://schemas.openxmlformats.org/officeDocument/2006/relationships/notesSlide" Target="/ppt/notesSlides/notesSlide6.xml" Id="R0fa65d88762f44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cceb7d7ea2406c" /><Relationship Type="http://schemas.openxmlformats.org/officeDocument/2006/relationships/notesSlide" Target="/ppt/notesSlides/notesSlide7.xml" Id="R25cd2260489a48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39eccb96d4814" /><Relationship Type="http://schemas.openxmlformats.org/officeDocument/2006/relationships/notesSlide" Target="/ppt/notesSlides/notesSlide8.xml" Id="R840b683bac9444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a98d531a684142" /><Relationship Type="http://schemas.openxmlformats.org/officeDocument/2006/relationships/notesSlide" Target="/ppt/notesSlides/notesSlide9.xml" Id="R3c591fd34a2848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93ad4f1a94128" /><Relationship Type="http://schemas.openxmlformats.org/officeDocument/2006/relationships/notesSlide" Target="/ppt/notesSlides/notesSlide10.xml" Id="R1b90c1236cd148b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de786494d04a15" /><Relationship Type="http://schemas.openxmlformats.org/officeDocument/2006/relationships/notesSlide" Target="/ppt/notesSlides/notesSlide11.xml" Id="R7437bd3264994e8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9c5e48e2744c9f" /><Relationship Type="http://schemas.openxmlformats.org/officeDocument/2006/relationships/notesSlide" Target="/ppt/notesSlides/notesSlide12.xml" Id="R3568ca85db3d4c5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26aeb82f94837" /><Relationship Type="http://schemas.openxmlformats.org/officeDocument/2006/relationships/image" Target="/ppt/media/image4.png" Id="Rc0f58cd0b18d4e4a" /><Relationship Type="http://schemas.openxmlformats.org/officeDocument/2006/relationships/notesSlide" Target="/ppt/notesSlides/notesSlide13.xml" Id="Rdc6ff0199aec4cb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690c61187a4d06" /><Relationship Type="http://schemas.openxmlformats.org/officeDocument/2006/relationships/notesSlide" Target="/ppt/notesSlides/notesSlide14.xml" Id="R8cfbb4ed434644c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e7be30a8c247a4" /><Relationship Type="http://schemas.openxmlformats.org/officeDocument/2006/relationships/notesSlide" Target="/ppt/notesSlides/notesSlide15.xml" Id="R012581be20c5410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eda653efe4446f" /><Relationship Type="http://schemas.openxmlformats.org/officeDocument/2006/relationships/notesSlide" Target="/ppt/notesSlides/notesSlide16.xml" Id="Rc51344a0de614eb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54d52b0aad45d1" /><Relationship Type="http://schemas.openxmlformats.org/officeDocument/2006/relationships/notesSlide" Target="/ppt/notesSlides/notesSlide17.xml" Id="Rb86580b4ef6e4aa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f27b798fee47f8" /><Relationship Type="http://schemas.openxmlformats.org/officeDocument/2006/relationships/notesSlide" Target="/ppt/notesSlides/notesSlide18.xml" Id="Rfa4cc2431f5841e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a42b225d434886" /><Relationship Type="http://schemas.openxmlformats.org/officeDocument/2006/relationships/notesSlide" Target="/ppt/notesSlides/notesSlide19.xml" Id="Rae825a5e75084fd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7d6fa2ca5c44fe" /><Relationship Type="http://schemas.openxmlformats.org/officeDocument/2006/relationships/notesSlide" Target="/ppt/notesSlides/notesSlide20.xml" Id="R0a263a661b1046e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701d55b1474b96" /><Relationship Type="http://schemas.openxmlformats.org/officeDocument/2006/relationships/notesSlide" Target="/ppt/notesSlides/notesSlide21.xml" Id="Rfb6022d360a04be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70a31870164de1" /><Relationship Type="http://schemas.openxmlformats.org/officeDocument/2006/relationships/notesSlide" Target="/ppt/notesSlides/notesSlide22.xml" Id="Rc3ed091477804a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60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5665c8ddf548ca"/>
          <a:srcRect xmlns:a="http://schemas.openxmlformats.org/drawingml/2006/main" l="24826" t="0" r="248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oundRect">
            <a:avLst>
              <a:gd name="adj" fmla="val 1034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7292D8-7B43-4F7B-8986-F2F1925C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607"/>
          </a:solidFill>
          <a:ln xmlns:a="http://schemas.openxmlformats.org/drawingml/2006/main" w="0">
            <a:solidFill>
              <a:srgbClr val="05060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9945FA-5F8B-4079-BD22-43BFB019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950" b="0">
                <a:solidFill>
                  <a:srgbClr val="FF6B35"/>
                </a:solidFill>
              </a:defRPr>
            </a:pPr>
            <a:r>
              <a:rPr sz="4950" b="0">
                <a:solidFill>
                  <a:srgbClr val="FF6B35"/>
                </a:solidFill>
              </a:rPr>
              <a:t>CAIRN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D575C3-CFA8-489D-B63E-823D0385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FFFFF"/>
                </a:solidFill>
              </a:defRPr>
            </a:pPr>
            <a:r>
              <a:rPr sz="2175" b="0">
                <a:solidFill>
                  <a:srgbClr val="FFFFFF"/>
                </a:solidFill>
              </a:rPr>
              <a:t>The strategy intelligence operating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C8F82E-EACC-4399-8713-50BC4066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6D6D6"/>
                </a:solidFill>
              </a:defRPr>
            </a:pPr>
            <a:r>
              <a:rPr sz="1575" b="0">
                <a:solidFill>
                  <a:srgbClr val="D6D6D6"/>
                </a:solidFill>
              </a:rPr>
              <a:t>Private multi-company AI strategy platform where intake, reasoning, simulation, execution, memory, prediction, and calibration compound over time.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C13AE0-2D82-4216-AC84-F84F84CA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A8B92A-8B0F-454D-9FC5-1BBD4AAF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2910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AFAF"/>
                </a:solidFill>
              </a:defRPr>
            </a:pPr>
            <a:r>
              <a:rPr sz="1275" b="0">
                <a:solidFill>
                  <a:srgbClr val="AFAFAF"/>
                </a:solidFill>
              </a:rPr>
              <a:t>Built from local repo study - docs, routes, schema, agents, services, tests, and built UI bundle.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346F3C-830D-49AC-AF55-02D504A3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AFAF"/>
                </a:solidFill>
              </a:defRPr>
            </a:pPr>
            <a:r>
              <a:rPr sz="1200" b="0">
                <a:solidFill>
                  <a:srgbClr val="AFAFAF"/>
                </a:solidFill>
              </a:rPr>
              <a:t>June 30, 2026</a:t>
            </a:r>
          </a:p>
        </p:txBody>
      </p:sp>
    </p:spTree>
    <p:extLst>
      <p:ext uri="{BB962C8B-B14F-4D97-AF65-F5344CB8AC3E}">
        <p14:creationId xmlns:p14="http://schemas.microsoft.com/office/powerpoint/2010/main" val="18213952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EF65E1-E103-435D-AF9F-28083862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8F98"/>
                </a:solidFill>
              </a:defRPr>
            </a:pPr>
            <a:r>
              <a:rPr sz="1050" b="1">
                <a:solidFill>
                  <a:srgbClr val="8A8F98"/>
                </a:solidFill>
              </a:rPr>
              <a:t>EXECUTIVE TAKE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3C46F2-2D4C-4449-AE1F-4C39B8B3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B0B0C"/>
                </a:solidFill>
              </a:defRPr>
            </a:pPr>
            <a:r>
              <a:rPr sz="3000" b="0">
                <a:solidFill>
                  <a:srgbClr val="0B0B0C"/>
                </a:solidFill>
              </a:rPr>
              <a:t>What the app 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956F21-AEA5-4C02-9ABD-8AA4F570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107DEB-C16F-481F-AAEA-2D0F5A61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0B0C"/>
                </a:solidFill>
              </a:defRPr>
            </a:pPr>
            <a:r>
              <a:rPr sz="1800" b="0">
                <a:solidFill>
                  <a:srgbClr val="0B0B0C"/>
                </a:solidFill>
              </a:rPr>
              <a:t>Cairn is not a chat wrapper. It is a governed strategy brain for an investor and portfolio companies: every claim is scoped, every model call is routed, every strategic assertion can become a prediction, and every outcome can feed calibration.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AAC976-D175-466A-A5C5-B391DDB2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38450"/>
            <a:ext cx="257175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86A737-8C1D-4FC1-AB74-0E219976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7050"/>
            <a:ext cx="2114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FF6B35"/>
                </a:solidFill>
              </a:defRPr>
            </a:pPr>
            <a:r>
              <a:rPr sz="3150" b="0">
                <a:solidFill>
                  <a:srgbClr val="FF6B35"/>
                </a:solidFill>
              </a:rPr>
              <a:t>50+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A76F90-3AE9-4716-8B45-33F59F33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21145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B0C"/>
                </a:solidFill>
              </a:defRPr>
            </a:pPr>
            <a:r>
              <a:rPr sz="1275" b="0">
                <a:solidFill>
                  <a:srgbClr val="0B0B0C"/>
                </a:solidFill>
              </a:rPr>
              <a:t>React page surfaces across company workspace, knowledge, intake, reasoning, simulation, execution, learning, portfolio, operations, help and admin.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687696-1805-4900-BC5C-10A992AA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838450"/>
            <a:ext cx="257175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B6CF86-A69D-4C07-A5C8-2F31406A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67050"/>
            <a:ext cx="2114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B0B0C"/>
                </a:solidFill>
              </a:defRPr>
            </a:pPr>
            <a:r>
              <a:rPr sz="3150" b="0">
                <a:solidFill>
                  <a:srgbClr val="0B0B0C"/>
                </a:solidFill>
              </a:rPr>
              <a:t>40+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3AFB98-4C03-4C5F-9396-4231849B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810000"/>
            <a:ext cx="21145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B0C"/>
                </a:solidFill>
              </a:defRPr>
            </a:pPr>
            <a:r>
              <a:rPr sz="1275" b="0">
                <a:solidFill>
                  <a:srgbClr val="0B0B0C"/>
                </a:solidFill>
              </a:rPr>
              <a:t>tRPC router groups exposing a broad typed API surface from memory and MCP tools to connectors and simulations.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CD66F6-6B5B-41AF-BB3C-483AE1DB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257175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3A7B86-E059-4B7B-AFAF-02AA9E82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67050"/>
            <a:ext cx="2114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B0B0C"/>
                </a:solidFill>
              </a:defRPr>
            </a:pPr>
            <a:r>
              <a:rPr sz="3150" b="0">
                <a:solidFill>
                  <a:srgbClr val="0B0B0C"/>
                </a:solidFill>
              </a:rPr>
              <a:t>22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270C54-9C45-45C5-A267-FDF4BEE2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10000"/>
            <a:ext cx="21145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B0C"/>
                </a:solidFill>
              </a:defRPr>
            </a:pPr>
            <a:r>
              <a:rPr sz="1275" b="0">
                <a:solidFill>
                  <a:srgbClr val="0B0B0C"/>
                </a:solidFill>
              </a:rPr>
              <a:t>Drizzle/MySQL tables covering tenants, companies, sessions, memory, predictions, audit, export, connectors, digital twin and strategy tracking.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71A0A8-E7D7-41A8-B94F-90F59C67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838450"/>
            <a:ext cx="257175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5831F0-BEC4-4F10-9887-67B2DEF1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67050"/>
            <a:ext cx="2114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FF6B35"/>
                </a:solidFill>
              </a:defRPr>
            </a:pPr>
            <a:r>
              <a:rPr sz="3150" b="0">
                <a:solidFill>
                  <a:srgbClr val="FF6B35"/>
                </a:solidFill>
              </a:rPr>
              <a:t>557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9CB527-2768-47C3-A398-4EFE212C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810000"/>
            <a:ext cx="21145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B0C"/>
                </a:solidFill>
              </a:defRPr>
            </a:pPr>
            <a:r>
              <a:rPr sz="1275" b="0">
                <a:solidFill>
                  <a:srgbClr val="0B0B0C"/>
                </a:solidFill>
              </a:rPr>
              <a:t>Tests reported in the recent consolidation notes after a 31-pass ultra-audit campaign and production build verification.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1F6C85-D142-47C0-BD8C-8DF34C18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CAIRN strategy platform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9ED5F6-6B49-4308-8A2C-A5ACB456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622785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E49B4A-A869-471A-A826-5229382A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8F98"/>
                </a:solidFill>
              </a:defRPr>
            </a:pPr>
            <a:r>
              <a:rPr sz="1050" b="1">
                <a:solidFill>
                  <a:srgbClr val="8A8F98"/>
                </a:solidFill>
              </a:rPr>
              <a:t>PRODUCT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71293E-C930-4DB6-8F6E-221F2D6A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B0B0C"/>
                </a:solidFill>
              </a:defRPr>
            </a:pPr>
            <a:r>
              <a:rPr sz="3000" b="0">
                <a:solidFill>
                  <a:srgbClr val="0B0B0C"/>
                </a:solidFill>
              </a:rPr>
              <a:t>A full strategy operating surface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179297-86D6-4257-B65B-D7306241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DDF87-D25F-4658-B509-005033CA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3429000" cy="1190625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BF44ED-D68B-4900-AFF5-B0F48851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22CD51-2A9C-470C-97C1-B982A4C6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335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B0C"/>
                </a:solidFill>
              </a:defRPr>
            </a:pPr>
            <a:r>
              <a:rPr sz="1575" b="1">
                <a:solidFill>
                  <a:srgbClr val="0B0B0C"/>
                </a:solidFill>
              </a:rPr>
              <a:t>Companies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68A194-DCBD-415C-B9FD-213240E5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05025"/>
            <a:ext cx="3124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Portfolio companies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Onboarding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Projects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482702-1E3C-4743-BD4B-F04CE167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581150"/>
            <a:ext cx="3429000" cy="1190625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9B2814-48D1-4489-9824-22B25A11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58115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C"/>
          </a:solidFill>
          <a:ln xmlns:a="http://schemas.openxmlformats.org/drawingml/2006/main" w="0">
            <a:solidFill>
              <a:srgbClr val="0B0B0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2BDFE5-7441-4122-8BD1-BE72BC39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7335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B0C"/>
                </a:solidFill>
              </a:defRPr>
            </a:pPr>
            <a:r>
              <a:rPr sz="1575" b="1">
                <a:solidFill>
                  <a:srgbClr val="0B0B0C"/>
                </a:solidFill>
              </a:rPr>
              <a:t>Knowledge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2B1518-27FD-4D90-A281-63698FA7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05025"/>
            <a:ext cx="3124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Memory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Connections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Ingest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Voice intake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E30E87-A54D-4FB2-B53E-88922DAA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81150"/>
            <a:ext cx="3429000" cy="1190625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F89FEA-C93E-4B99-B755-A112111E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8115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solidFill>
              <a:srgbClr val="D4AF3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8506E9-D161-40F8-A1CD-297663E8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335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B0C"/>
                </a:solidFill>
              </a:defRPr>
            </a:pPr>
            <a:r>
              <a:rPr sz="1575" b="1">
                <a:solidFill>
                  <a:srgbClr val="0B0B0C"/>
                </a:solidFill>
              </a:rPr>
              <a:t>Strategy intake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944446-D33A-4A14-80E0-840CB281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05025"/>
            <a:ext cx="3124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Digital Twin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Brainstorm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Memo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Personas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Artifacts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249610-4435-4787-9C32-16CB040F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3429000" cy="1190625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1C2DCD-5A57-4853-97A4-B2B72707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0857A2-8476-43DB-BB81-D80CECDA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040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B0C"/>
                </a:solidFill>
              </a:defRPr>
            </a:pPr>
            <a:r>
              <a:rPr sz="1575" b="1">
                <a:solidFill>
                  <a:srgbClr val="0B0B0C"/>
                </a:solidFill>
              </a:rPr>
              <a:t>Reasoning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DC4DBA-5692-4A8F-AB78-09CCF432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3124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Diagnosis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Research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Frameworks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Options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Red team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Contradictions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0A550E-C898-4ABE-B71B-3EBDE385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048000"/>
            <a:ext cx="3429000" cy="1190625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5FA121-4F1C-4A41-92E1-68CC8979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04800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C"/>
          </a:solidFill>
          <a:ln xmlns:a="http://schemas.openxmlformats.org/drawingml/2006/main" w="0">
            <a:solidFill>
              <a:srgbClr val="0B0B0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7EF11F-942B-4DD9-B655-EB6AF91A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0040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B0C"/>
                </a:solidFill>
              </a:defRPr>
            </a:pPr>
            <a:r>
              <a:rPr sz="1575" b="1">
                <a:solidFill>
                  <a:srgbClr val="0B0B0C"/>
                </a:solidFill>
              </a:rPr>
              <a:t>Simulation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26C8AB-EA4C-4FBD-86BD-E77D9106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571875"/>
            <a:ext cx="3124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War-game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Cross-company shock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Monte Carlo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Dual currency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937AB2-0323-4CD9-9E00-A2A7403E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48000"/>
            <a:ext cx="3429000" cy="1190625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78880E-8291-4692-A15B-ECD59BC2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4800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solidFill>
              <a:srgbClr val="D4AF3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D3A64-261C-4470-AFD4-22BCA430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0040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B0C"/>
                </a:solidFill>
              </a:defRPr>
            </a:pPr>
            <a:r>
              <a:rPr sz="1575" b="1">
                <a:solidFill>
                  <a:srgbClr val="0B0B0C"/>
                </a:solidFill>
              </a:rPr>
              <a:t>Execution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DFD7EC-6EF5-47E9-8EE7-F9EB2D22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71875"/>
            <a:ext cx="3124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Decompose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Pre-mortem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Drift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KPI library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Strategic tracker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Linear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2AB149-6867-46EF-BC0B-3C7B74F2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3429000" cy="1190625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47E5DD-DA47-404C-922C-7935B173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6F5CFC-0A4F-43B8-95F8-3FB1A8D1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672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B0C"/>
                </a:solidFill>
              </a:defRPr>
            </a:pPr>
            <a:r>
              <a:rPr sz="1575" b="1">
                <a:solidFill>
                  <a:srgbClr val="0B0B0C"/>
                </a:solidFill>
              </a:rPr>
              <a:t>Learning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54AD92-056F-4EBE-91E1-0D88E9BA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38725"/>
            <a:ext cx="3124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Predictions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Calibration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Attribution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Audit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Playbooks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Patterns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40ADA2-0CA8-414C-85DB-A466DF46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514850"/>
            <a:ext cx="3429000" cy="1190625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1DDAFB-A3EA-4369-A610-4C4D7F4E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51485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C"/>
          </a:solidFill>
          <a:ln xmlns:a="http://schemas.openxmlformats.org/drawingml/2006/main" w="0">
            <a:solidFill>
              <a:srgbClr val="0B0B0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B9866B-C5BD-4059-9522-0B4A04B3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6672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B0C"/>
                </a:solidFill>
              </a:defRPr>
            </a:pPr>
            <a:r>
              <a:rPr sz="1575" b="1">
                <a:solidFill>
                  <a:srgbClr val="0B0B0C"/>
                </a:solidFill>
              </a:rPr>
              <a:t>Portfolio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9D2CCF-C152-4A56-82BC-641AF1F4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5038725"/>
            <a:ext cx="3124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Synergy scout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Distillation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Briefing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96E6F9-38AC-40A0-981D-942615E1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14850"/>
            <a:ext cx="3429000" cy="1190625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F8C3AB-77B6-4C4C-B9A0-9A06E9E9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1485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solidFill>
              <a:srgbClr val="D4AF3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254B8D-1D3D-4506-AB6B-29DDF791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67250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B0C"/>
                </a:solidFill>
              </a:defRPr>
            </a:pPr>
            <a:r>
              <a:rPr sz="1575" b="1">
                <a:solidFill>
                  <a:srgbClr val="0B0B0C"/>
                </a:solidFill>
              </a:rPr>
              <a:t>Operations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40B65F-F990-4CC0-9C11-E70E3E27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38725"/>
            <a:ext cx="3124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Cost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Audit log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Usage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Export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MCP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Users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FC5BEDD-364A-4965-AF7F-494AF625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CAIRN strategy platform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2574EFC-4C1A-4418-89D4-01E47BBD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755261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BC7E5A-1F24-4A04-804F-9302BAEC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8F98"/>
                </a:solidFill>
              </a:defRPr>
            </a:pPr>
            <a:r>
              <a:rPr sz="1050" b="1">
                <a:solidFill>
                  <a:srgbClr val="8A8F98"/>
                </a:solidFill>
              </a:rPr>
              <a:t>HOW STRATEGY WORK MOVES THROUGH CAIRN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A08579-6ED3-4286-8F00-54E9D23D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B0B0C"/>
                </a:solidFill>
              </a:defRPr>
            </a:pPr>
            <a:r>
              <a:rPr sz="3000" b="0">
                <a:solidFill>
                  <a:srgbClr val="0B0B0C"/>
                </a:solidFill>
              </a:rPr>
              <a:t>The user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BED513-4163-45AB-8886-296AD96E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6477A-5610-4436-BB34-4CAFA9C5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1432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5D3AA3-2BFD-4DE7-BEA5-ADA7FBB0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B0C"/>
                </a:solidFill>
              </a:defRPr>
            </a:pPr>
            <a:r>
              <a:rPr sz="1725" b="1">
                <a:solidFill>
                  <a:srgbClr val="0B0B0C"/>
                </a:solidFill>
              </a:rPr>
              <a:t>1. Onboard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C729E8-127A-4FC8-8FBA-D507CD4D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2724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B0C"/>
                </a:solidFill>
              </a:defRPr>
            </a:pPr>
            <a:r>
              <a:rPr sz="1275" b="0">
                <a:solidFill>
                  <a:srgbClr val="0B0B0C"/>
                </a:solidFill>
              </a:rPr>
              <a:t>Create a portco, project and starting context.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AB74B8-4869-4027-93F1-CB1D8C13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238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8918B2-3216-4F68-B17D-DD0E0A29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31432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764B2F-EDAC-4974-8B57-21514CE5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0500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B0C"/>
                </a:solidFill>
              </a:defRPr>
            </a:pPr>
            <a:r>
              <a:rPr sz="1725" b="1">
                <a:solidFill>
                  <a:srgbClr val="0B0B0C"/>
                </a:solidFill>
              </a:rPr>
              <a:t>2. Capture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CC0627-69BD-43B6-BF70-88B8EC06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05050"/>
            <a:ext cx="2724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B0C"/>
                </a:solidFill>
              </a:defRPr>
            </a:pPr>
            <a:r>
              <a:rPr sz="1275" b="0">
                <a:solidFill>
                  <a:srgbClr val="0B0B0C"/>
                </a:solidFill>
              </a:rPr>
              <a:t>Ingest docs, use voice, run Digital Twin discovery, brainstorm or dictate a memo.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EE3BC2-F5F3-4CCC-8CBB-BF92C0F3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383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823F8F-D712-40BE-8439-089C6DEC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0"/>
            <a:ext cx="31432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DEAAC7-CBA3-4B2A-A7D9-A1B713FC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0500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B0C"/>
                </a:solidFill>
              </a:defRPr>
            </a:pPr>
            <a:r>
              <a:rPr sz="1725" b="1">
                <a:solidFill>
                  <a:srgbClr val="0B0B0C"/>
                </a:solidFill>
              </a:rPr>
              <a:t>3. Reason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A1AB0A-D743-456E-B77F-FBB6A958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05050"/>
            <a:ext cx="2724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B0C"/>
                </a:solidFill>
              </a:defRPr>
            </a:pPr>
            <a:r>
              <a:rPr sz="1275" b="0">
                <a:solidFill>
                  <a:srgbClr val="0B0B0C"/>
                </a:solidFill>
              </a:rPr>
              <a:t>Diagnose first, then research, frameworks, options, contradictions and red-team.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B63A29-9C32-4A88-9049-2868ED90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31432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AABED1-6641-4AEE-A00B-73E1B4CD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57625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B0C"/>
                </a:solidFill>
              </a:defRPr>
            </a:pPr>
            <a:r>
              <a:rPr sz="1725" b="1">
                <a:solidFill>
                  <a:srgbClr val="0B0B0C"/>
                </a:solidFill>
              </a:rPr>
              <a:t>4.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BE175C-71E0-4802-A148-F49269F1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57675"/>
            <a:ext cx="2724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B0C"/>
                </a:solidFill>
              </a:defRPr>
            </a:pPr>
            <a:r>
              <a:rPr sz="1275" b="0">
                <a:solidFill>
                  <a:srgbClr val="0B0B0C"/>
                </a:solidFill>
              </a:rPr>
              <a:t>War-game options, run cross-company shocks and simulate financial outcomes.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C7C54D-7ED4-4BB6-B2D3-A68C625E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19100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4999FC-7E8A-4A6F-82D6-5C1A6B7E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67125"/>
            <a:ext cx="31432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78EE55-E605-4095-BE6F-3F27A18C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57625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B0C"/>
                </a:solidFill>
              </a:defRPr>
            </a:pPr>
            <a:r>
              <a:rPr sz="1725" b="1">
                <a:solidFill>
                  <a:srgbClr val="0B0B0C"/>
                </a:solidFill>
              </a:rPr>
              <a:t>5. Execute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F1E6FE-42C3-4C59-B723-612810B6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57675"/>
            <a:ext cx="2724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B0C"/>
                </a:solidFill>
              </a:defRPr>
            </a:pPr>
            <a:r>
              <a:rPr sz="1275" b="0">
                <a:solidFill>
                  <a:srgbClr val="0B0B0C"/>
                </a:solidFill>
              </a:rPr>
              <a:t>Decompose to initiatives, KPIs, milestones, risks and Linear-linked work.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2ADC2C-93E3-4037-A016-EF962107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19100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-&gt;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4FB7F7-82FB-4A08-BAB9-B8488A6C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67125"/>
            <a:ext cx="31432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8A8B61-B75D-4A94-8DF7-8B360717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57625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B0C"/>
                </a:solidFill>
              </a:defRPr>
            </a:pPr>
            <a:r>
              <a:rPr sz="1725" b="1">
                <a:solidFill>
                  <a:srgbClr val="0B0B0C"/>
                </a:solidFill>
              </a:rPr>
              <a:t>6. Learn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22BEB2-7176-4B83-A237-83419EA4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57675"/>
            <a:ext cx="2724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B0C"/>
                </a:solidFill>
              </a:defRPr>
            </a:pPr>
            <a:r>
              <a:rPr sz="1275" b="0">
                <a:solidFill>
                  <a:srgbClr val="0B0B0C"/>
                </a:solidFill>
              </a:rPr>
              <a:t>Record predictions, close outcomes, calibrate, mine patterns and promote playbooks.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81A465-B94B-4795-8774-16629A71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76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The compounding effect comes from the loop, not from any single screen: memory improves diagnosis; predictions make reasoning measurable; outcomes teach calibration; playbooks turn repeated wins into reusable procedure.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E049DE-B1F3-4E0C-A967-DA2F941A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CAIRN strategy platform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C72E51-639B-45F0-9650-4012CA65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574873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1C6627-772F-412A-A66C-56D56D54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8F98"/>
                </a:solidFill>
              </a:defRPr>
            </a:pPr>
            <a:r>
              <a:rPr sz="1050" b="1">
                <a:solidFill>
                  <a:srgbClr val="8A8F98"/>
                </a:solidFill>
              </a:rPr>
              <a:t>BUILD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D05E9-14B2-47DD-BE36-79E351AB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B0B0C"/>
                </a:solidFill>
              </a:defRPr>
            </a:pPr>
            <a:r>
              <a:rPr sz="3000" b="0">
                <a:solidFill>
                  <a:srgbClr val="0B0B0C"/>
                </a:solidFill>
              </a:rPr>
              <a:t>Status: broad surface, phased 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D9F18C-819B-4BE2-81F9-89B820E8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BCBE51-D245-41BF-B94A-DA0BB3DD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B0C"/>
                </a:solidFill>
              </a:defRPr>
            </a:pPr>
            <a:r>
              <a:rPr sz="1650" b="0">
                <a:solidFill>
                  <a:srgbClr val="0B0B0C"/>
                </a:solidFill>
              </a:rPr>
              <a:t>The feature matrix distinguishes code-shipped and unit-tested capabilities from phase gates that still depend on deploy metrics, external integrations, TTS/vision infrastructure, or accumulated real usage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8BDEE-600C-4149-886E-A7015F68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B0C"/>
                </a:solidFill>
              </a:defRPr>
            </a:pPr>
            <a:r>
              <a:rPr sz="1275" b="0">
                <a:solidFill>
                  <a:srgbClr val="0B0B0C"/>
                </a:solidFill>
              </a:rPr>
              <a:t>Code-shipped capabilities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B36AC3-E3F5-4915-8EA3-CD4821A7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24125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5"/>
          </a:solidFill>
          <a:ln xmlns:a="http://schemas.openxmlformats.org/drawingml/2006/main" w="0">
            <a:solidFill>
              <a:srgbClr val="E5E5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AF8C1-521E-47B5-A9CE-3D82C4B4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24125"/>
            <a:ext cx="542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B45C"/>
          </a:solidFill>
          <a:ln xmlns:a="http://schemas.openxmlformats.org/drawingml/2006/main" w="0">
            <a:solidFill>
              <a:srgbClr val="32B4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78C97B-A177-4D1D-A7B3-4801B685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47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B0C"/>
                </a:solidFill>
              </a:defRPr>
            </a:pPr>
            <a:r>
              <a:rPr sz="1200" b="0">
                <a:solidFill>
                  <a:srgbClr val="0B0B0C"/>
                </a:solidFill>
              </a:rPr>
              <a:t>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6D3719-19D0-4CA0-8F9F-ED4719BF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B0C"/>
                </a:solidFill>
              </a:defRPr>
            </a:pPr>
            <a:r>
              <a:rPr sz="1275" b="0">
                <a:solidFill>
                  <a:srgbClr val="0B0B0C"/>
                </a:solidFill>
              </a:rPr>
              <a:t>Partially shipped or data/infra gated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80D378-5298-4D4C-843E-8DDC4C0E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00375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5"/>
          </a:solidFill>
          <a:ln xmlns:a="http://schemas.openxmlformats.org/drawingml/2006/main" w="0">
            <a:solidFill>
              <a:srgbClr val="E5E5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0ABFF7-2FD7-4BD9-9D92-161EC10A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00375"/>
            <a:ext cx="1680482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00"/>
          </a:solidFill>
          <a:ln xmlns:a="http://schemas.openxmlformats.org/drawingml/2006/main" w="0">
            <a:solidFill>
              <a:srgbClr val="D99A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121B33-CAEA-4C3D-81A8-B694024D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952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B0C"/>
                </a:solidFill>
              </a:defRPr>
            </a:pPr>
            <a:r>
              <a:rPr sz="1200" b="0">
                <a:solidFill>
                  <a:srgbClr val="0B0B0C"/>
                </a:solidFill>
              </a:rPr>
              <a:t>13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54B216-1858-4701-A349-8945DE8F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B0C"/>
                </a:solidFill>
              </a:defRPr>
            </a:pPr>
            <a:r>
              <a:rPr sz="1275" b="0">
                <a:solidFill>
                  <a:srgbClr val="0B0B0C"/>
                </a:solidFill>
              </a:rPr>
              <a:t>Not yet built or deferred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3D02E3-F7AC-4CAA-A25E-C2D02C41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476625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5"/>
          </a:solidFill>
          <a:ln xmlns:a="http://schemas.openxmlformats.org/drawingml/2006/main" w="0">
            <a:solidFill>
              <a:srgbClr val="E5E5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95FB42-8B31-4A08-9657-872FDB47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476625"/>
            <a:ext cx="1551214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B3B"/>
          </a:solidFill>
          <a:ln xmlns:a="http://schemas.openxmlformats.org/drawingml/2006/main" w="0">
            <a:solidFill>
              <a:srgbClr val="C43B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15FF49-434B-422E-9A2C-371ED7E5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4290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B0C"/>
                </a:solidFill>
              </a:defRPr>
            </a:pPr>
            <a:r>
              <a:rPr sz="1200" b="0">
                <a:solidFill>
                  <a:srgbClr val="0B0B0C"/>
                </a:solidFill>
              </a:rPr>
              <a:t>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78B073-4C24-44EB-AE14-48D35A8E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33875"/>
            <a:ext cx="3429000" cy="12192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EA4048-AA3F-49AC-8D01-427A1FE2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B0C"/>
                </a:solidFill>
              </a:defRPr>
            </a:pPr>
            <a:r>
              <a:rPr sz="1725" b="1">
                <a:solidFill>
                  <a:srgbClr val="0B0B0C"/>
                </a:solidFill>
              </a:rPr>
              <a:t>Completed foundation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1F4B3C-C3DB-4201-A7A5-1DF28B68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3009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B0C"/>
                </a:solidFill>
              </a:defRPr>
            </a:pPr>
            <a:r>
              <a:rPr sz="1275" b="0">
                <a:solidFill>
                  <a:srgbClr val="0B0B0C"/>
                </a:solidFill>
              </a:rPr>
              <a:t>Phase 0 is marked complete: tenancy, roles, memory schema, prediction ledger, LLM router, budget enforcer, redactor, cost dashboard, audit, usage events and export.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8CBE59-68FA-40DC-89F1-A9F44E94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33875"/>
            <a:ext cx="3429000" cy="12192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D31D66-2FE7-49FE-8E5A-69808038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24375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B0C"/>
                </a:solidFill>
              </a:defRPr>
            </a:pPr>
            <a:r>
              <a:rPr sz="1725" b="1">
                <a:solidFill>
                  <a:srgbClr val="0B0B0C"/>
                </a:solidFill>
              </a:rPr>
              <a:t>Shipped beyond foundation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614E31-7827-4C4B-959C-FA2D94EB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924425"/>
            <a:ext cx="3009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B0C"/>
                </a:solidFill>
              </a:defRPr>
            </a:pPr>
            <a:r>
              <a:rPr sz="1275" b="0">
                <a:solidFill>
                  <a:srgbClr val="0B0B0C"/>
                </a:solidFill>
              </a:rPr>
              <a:t>Phases 1-8 show many implemented surfaces: Digital Twin, GraphRAG, research, simulation, strategic tracker, calibration math, pattern mining, Linear and more.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0982E4-C74C-40C2-851E-38A5AE29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33875"/>
            <a:ext cx="3429000" cy="12192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FDE34F-94C8-44CF-8BE6-9FF02288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24375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B0C"/>
                </a:solidFill>
              </a:defRPr>
            </a:pPr>
            <a:r>
              <a:rPr sz="1725" b="1">
                <a:solidFill>
                  <a:srgbClr val="0B0B0C"/>
                </a:solidFill>
              </a:rPr>
              <a:t>Gate nuance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6993D6-0F74-426C-964A-C4AF1BFD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24425"/>
            <a:ext cx="3009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B0C"/>
                </a:solidFill>
              </a:defRPr>
            </a:pPr>
            <a:r>
              <a:rPr sz="1275" b="0">
                <a:solidFill>
                  <a:srgbClr val="0B0B0C"/>
                </a:solidFill>
              </a:rPr>
              <a:t>Several phase gates remain open because they require real closed predictions, portfolio data, deploy observability, voice/TTS, vision, GPU or external connector work.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B61FE5-0664-40C0-B72D-49F75B82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962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B45C"/>
          </a:solidFill>
          <a:ln xmlns:a="http://schemas.openxmlformats.org/drawingml/2006/main" w="0">
            <a:solidFill>
              <a:srgbClr val="32B45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265AA5-EDAF-4B16-853C-1688BE1E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055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B0C"/>
                </a:solidFill>
              </a:defRPr>
            </a:pPr>
            <a:r>
              <a:rPr sz="1200" b="0">
                <a:solidFill>
                  <a:srgbClr val="0B0B0C"/>
                </a:solidFill>
              </a:rPr>
              <a:t>code shipped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B811D8-CB90-4DD4-8F56-BA7B83B2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962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A00"/>
          </a:solidFill>
          <a:ln xmlns:a="http://schemas.openxmlformats.org/drawingml/2006/main" w="0">
            <a:solidFill>
              <a:srgbClr val="D99A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46E17A-BD56-46F9-B648-0458EFD2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9055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B0C"/>
                </a:solidFill>
              </a:defRPr>
            </a:pPr>
            <a:r>
              <a:rPr sz="1200" b="0">
                <a:solidFill>
                  <a:srgbClr val="0B0B0C"/>
                </a:solidFill>
              </a:rPr>
              <a:t>partially gated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FD73D0-9FA9-4453-BD9E-4008BBA8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962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3B3B"/>
          </a:solidFill>
          <a:ln xmlns:a="http://schemas.openxmlformats.org/drawingml/2006/main" w="0">
            <a:solidFill>
              <a:srgbClr val="C43B3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433BEE-C1E9-4AF6-BC80-68D3655C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9055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B0C"/>
                </a:solidFill>
              </a:defRPr>
            </a:pPr>
            <a:r>
              <a:rPr sz="1200" b="0">
                <a:solidFill>
                  <a:srgbClr val="0B0B0C"/>
                </a:solidFill>
              </a:rPr>
              <a:t>not built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04BB6E-4A81-423F-8AEC-703D1A61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CAIRN strategy platform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966BED-8B22-4755-BC38-9FC26BD0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477165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ABB8E3-17BA-4966-9204-641F772C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8F98"/>
                </a:solidFill>
              </a:defRPr>
            </a:pPr>
            <a:r>
              <a:rPr sz="1050" b="1">
                <a:solidFill>
                  <a:srgbClr val="8A8F98"/>
                </a:solidFill>
              </a:rPr>
              <a:t>BUILT UI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B6150E-4717-4AC6-9945-684B7F4B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B0B0C"/>
                </a:solidFill>
              </a:defRPr>
            </a:pPr>
            <a:r>
              <a:rPr sz="3000" b="0">
                <a:solidFill>
                  <a:srgbClr val="0B0B0C"/>
                </a:solidFill>
              </a:rPr>
              <a:t>The actual operating shell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292EA4-E06B-440A-9E12-5B64A904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fdc1d1b1724e9e"/>
          <a:srcRect xmlns:a="http://schemas.openxmlformats.org/drawingml/2006/main" l="51" t="0" r="5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562100"/>
            <a:ext cx="5572125" cy="3486150"/>
          </a:xfrm>
          <a:prstGeom xmlns:a="http://schemas.openxmlformats.org/drawingml/2006/main" prst="roundRect">
            <a:avLst>
              <a:gd name="adj" fmla="val 1639"/>
            </a:avLst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be9394230148e9"/>
          <a:srcRect xmlns:a="http://schemas.openxmlformats.org/drawingml/2006/main" l="51" t="0" r="5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9825" y="1562100"/>
            <a:ext cx="5572125" cy="3486150"/>
          </a:xfrm>
          <a:prstGeom xmlns:a="http://schemas.openxmlformats.org/drawingml/2006/main" prst="roundRect">
            <a:avLst>
              <a:gd name="adj" fmla="val 163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1573AA-3AAE-4FA6-9688-BABAEFBA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Left: authenticated overview shell with grouped navigation, health metrics, quick actions, memory, prediction ledger and system status.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1FFC0-F156-49F4-95D0-E8E467FC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25780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Right: financial simulation surface showing 10,000-path Monte Carlo output, NPV metrics, downside risk and percentile distribution.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3BEBEE-70B0-43B9-8DD0-4342E5CB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245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8F98"/>
                </a:solidFill>
              </a:defRPr>
            </a:pPr>
            <a:r>
              <a:rPr sz="1050" b="0">
                <a:solidFill>
                  <a:srgbClr val="8A8F98"/>
                </a:solidFill>
              </a:rPr>
              <a:t>Screens captured from the local built bundle; demo API data was mocked only to render authenticated states.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E48974-50E4-4412-A72F-D7201951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CAIRN strategy platform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7BEEA1-1633-43F7-8141-D72F8FC0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918000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2F60C9-B34A-4811-B9F7-3BB9D677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8F98"/>
                </a:solidFill>
              </a:defRPr>
            </a:pPr>
            <a:r>
              <a:rPr sz="1050" b="1">
                <a:solidFill>
                  <a:srgbClr val="8A8F98"/>
                </a:solidFill>
              </a:rPr>
              <a:t>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2493A8-5EC0-408D-9649-E4E219A2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B0B0C"/>
                </a:solidFill>
              </a:defRPr>
            </a:pPr>
            <a:r>
              <a:rPr sz="3000" b="0">
                <a:solidFill>
                  <a:srgbClr val="0B0B0C"/>
                </a:solidFill>
              </a:rPr>
              <a:t>Security and tenancy are first-class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82FB4D-D5D4-4F82-A58D-46DE8D7B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3B3516-880B-4C13-8289-89D3C301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2FA782-9B75-4B44-96E4-9A056920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2402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C"/>
                </a:solidFill>
              </a:defRPr>
            </a:pPr>
            <a:r>
              <a:rPr sz="1650" b="1">
                <a:solidFill>
                  <a:srgbClr val="0B0B0C"/>
                </a:solidFill>
              </a:rPr>
              <a:t>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860B5-D6AD-4648-826C-8BD4A562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733550"/>
            <a:ext cx="7953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B0C"/>
                </a:solidFill>
              </a:defRPr>
            </a:pPr>
            <a:r>
              <a:rPr sz="1350" b="0">
                <a:solidFill>
                  <a:srgbClr val="0B0B0C"/>
                </a:solidFill>
              </a:rPr>
              <a:t>tenant -&gt; company -&gt; project -&gt; session -&gt; user; every row carries namespace context instead of relying on UI filters.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7C113F-E750-436E-94F6-72ADB03B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C"/>
          </a:solidFill>
          <a:ln xmlns:a="http://schemas.openxmlformats.org/drawingml/2006/main" w="0">
            <a:solidFill>
              <a:srgbClr val="0B0B0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E4C32A-046E-421F-819B-1D8E2739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9077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C"/>
                </a:solidFill>
              </a:defRPr>
            </a:pPr>
            <a:r>
              <a:rPr sz="1650" b="1">
                <a:solidFill>
                  <a:srgbClr val="0B0B0C"/>
                </a:solidFill>
              </a:rPr>
              <a:t>Roles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6A8FF0-AEA6-4014-B992-479F60C8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00300"/>
            <a:ext cx="7953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B0C"/>
                </a:solidFill>
              </a:defRPr>
            </a:pPr>
            <a:r>
              <a:rPr sz="1350" b="0">
                <a:solidFill>
                  <a:srgbClr val="0B0B0C"/>
                </a:solidFill>
              </a:rPr>
              <a:t>admin, GP, operator and portco_team with company access scoping; privileged portfolio surfaces are GP-only.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5E1C1D-1CA2-4D12-95DF-A274E247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solidFill>
              <a:srgbClr val="D4AF3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065112-749F-43F0-8EE7-921F7BEA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5752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C"/>
                </a:solidFill>
              </a:defRPr>
            </a:pPr>
            <a:r>
              <a:rPr sz="1650" b="1">
                <a:solidFill>
                  <a:srgbClr val="0B0B0C"/>
                </a:solidFill>
              </a:rPr>
              <a:t>Audit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297C78-489D-4D2F-BB1F-91643FAA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067050"/>
            <a:ext cx="7953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B0C"/>
                </a:solidFill>
              </a:defRPr>
            </a:pPr>
            <a:r>
              <a:rPr sz="1350" b="0">
                <a:solidFill>
                  <a:srgbClr val="0B0B0C"/>
                </a:solidFill>
              </a:rPr>
              <a:t>confidential reads and cross-company actions emit append-only audit entries with tier, trace and metadata.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485E65-0CD9-4AA3-BA0F-102C2677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38428A-2737-487D-B2D8-C8B29D8E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2427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C"/>
                </a:solidFill>
              </a:defRPr>
            </a:pPr>
            <a:r>
              <a:rPr sz="1650" b="1">
                <a:solidFill>
                  <a:srgbClr val="0B0B0C"/>
                </a:solidFill>
              </a:rPr>
              <a:t>Export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ACFADB-A1B1-4FC1-AABB-B552A4D9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33800"/>
            <a:ext cx="7953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B0C"/>
                </a:solidFill>
              </a:defRPr>
            </a:pPr>
            <a:r>
              <a:rPr sz="1350" b="0">
                <a:solidFill>
                  <a:srgbClr val="0B0B0C"/>
                </a:solidFill>
              </a:rPr>
              <a:t>per-company encrypted archive export is GP-only and returns signed download URLs for board packs, portability or backups.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BE9066-BB70-4C57-98E5-6CEEC6B7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C"/>
          </a:solidFill>
          <a:ln xmlns:a="http://schemas.openxmlformats.org/drawingml/2006/main" w="0">
            <a:solidFill>
              <a:srgbClr val="0B0B0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0E77CA-35BE-4D8E-80E7-8A1AA53F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9102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C"/>
                </a:solidFill>
              </a:defRPr>
            </a:pPr>
            <a:r>
              <a:rPr sz="1650" b="1">
                <a:solidFill>
                  <a:srgbClr val="0B0B0C"/>
                </a:solidFill>
              </a:rPr>
              <a:t>Connectors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62D10A-AA13-419B-B456-3945006D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400550"/>
            <a:ext cx="7953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B0C"/>
                </a:solidFill>
              </a:defRPr>
            </a:pPr>
            <a:r>
              <a:rPr sz="1350" b="0">
                <a:solidFill>
                  <a:srgbClr val="0B0B0C"/>
                </a:solidFill>
              </a:rPr>
              <a:t>Linear is implemented with encrypted credentials and issue push; Notion and Jira are present as controlled stubs.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D2313F-7FF6-4D56-99AD-45CA7E30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86375"/>
            <a:ext cx="74295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2505BC-EE8D-40A6-A208-F9176070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476875"/>
            <a:ext cx="701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B0C"/>
                </a:solidFill>
              </a:defRPr>
            </a:pPr>
            <a:r>
              <a:rPr sz="1725" b="1">
                <a:solidFill>
                  <a:srgbClr val="0B0B0C"/>
                </a:solidFill>
              </a:rPr>
              <a:t>Key design point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D825C2-DC37-4154-B91C-F8E77505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76925"/>
            <a:ext cx="70104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B0C"/>
                </a:solidFill>
              </a:defRPr>
            </a:pPr>
            <a:r>
              <a:rPr sz="1350" b="0">
                <a:solidFill>
                  <a:srgbClr val="0B0B0C"/>
                </a:solidFill>
              </a:rPr>
              <a:t>Cross-company intelligence is deliberately rare, explicit and logged. The app treats the portfolio boundary as a privilege boundary, not just a navigation boundary.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A26436-3009-492E-A03B-75208FBA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CAIRN strategy platform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B594E2-75F4-427F-A753-918F449B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464105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764982-A9AB-41A0-B259-41703B4B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8F98"/>
                </a:solidFill>
              </a:defRPr>
            </a:pPr>
            <a:r>
              <a:rPr sz="1050" b="1">
                <a:solidFill>
                  <a:srgbClr val="8A8F98"/>
                </a:solidFill>
              </a:rPr>
              <a:t>LLM ROUTER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B057FF-017E-4A1D-8C85-D9CFED5A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B0B0C"/>
                </a:solidFill>
              </a:defRPr>
            </a:pPr>
            <a:r>
              <a:rPr sz="3000" b="0">
                <a:solidFill>
                  <a:srgbClr val="0B0B0C"/>
                </a:solidFill>
              </a:rPr>
              <a:t>The AI control plane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419E34-225D-445F-9EF2-833F8682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D2D7D9-F810-4867-A8D1-EA0C5E6B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619250" cy="17907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F68E7E-ECD9-4E1C-B2E7-80852FD0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276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0B0C"/>
                </a:solidFill>
              </a:defRPr>
            </a:pPr>
            <a:r>
              <a:rPr sz="1575" b="1">
                <a:solidFill>
                  <a:srgbClr val="0B0B0C"/>
                </a:solidFill>
              </a:rPr>
              <a:t>Domain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58FD37-FA46-4965-AA13-829A4899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1276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B0B0C"/>
                </a:solidFill>
              </a:defRPr>
            </a:pPr>
            <a:r>
              <a:rPr sz="1125" b="0">
                <a:solidFill>
                  <a:srgbClr val="0B0B0C"/>
                </a:solidFill>
              </a:rPr>
              <a:t>diagnosis, research, red-team, strategic extract, Digital Twin, etc.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05DD68-F082-4BB3-99FA-0415DCBA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7241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D7B2BF-DF0F-4CAB-9DB0-46D24FE0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000250"/>
            <a:ext cx="1619250" cy="17907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E3D6"/>
          </a:solidFill>
          <a:ln xmlns:a="http://schemas.openxmlformats.org/drawingml/2006/main" w="0">
            <a:solidFill>
              <a:srgbClr val="FFE3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DD9503-6E47-457C-9CC0-27B148AB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28850"/>
            <a:ext cx="1276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6B35"/>
                </a:solidFill>
              </a:defRPr>
            </a:pPr>
            <a:r>
              <a:rPr sz="1575" b="1">
                <a:solidFill>
                  <a:srgbClr val="FF6B35"/>
                </a:solidFill>
              </a:rPr>
              <a:t>Router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8E95F4-5C58-4D34-8989-3FA73F91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800350"/>
            <a:ext cx="1276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B0B0C"/>
                </a:solidFill>
              </a:defRPr>
            </a:pPr>
            <a:r>
              <a:rPr sz="1125" b="0">
                <a:solidFill>
                  <a:srgbClr val="0B0B0C"/>
                </a:solidFill>
              </a:rPr>
              <a:t>single model dispatch point: complete, embed, structured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C08AC0-58C8-4953-B0CC-43426F23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241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29E20-28F9-4A12-BE8B-0B0AB52F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00250"/>
            <a:ext cx="1619250" cy="17907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DEF870-50C8-4690-B877-440FFDE1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28850"/>
            <a:ext cx="1276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0B0C"/>
                </a:solidFill>
              </a:defRPr>
            </a:pPr>
            <a:r>
              <a:rPr sz="1575" b="1">
                <a:solidFill>
                  <a:srgbClr val="0B0B0C"/>
                </a:solidFill>
              </a:rPr>
              <a:t>Redactor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AB0EC4-619D-4F0E-ADC0-82EA27D9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1276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B0B0C"/>
                </a:solidFill>
              </a:defRPr>
            </a:pPr>
            <a:r>
              <a:rPr sz="1125" b="0">
                <a:solidFill>
                  <a:srgbClr val="0B0B0C"/>
                </a:solidFill>
              </a:rPr>
              <a:t>SSN, credit cards, email, phone, bearer tokens, API keys and secrets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BA8CC0-3AFC-4FF1-935F-60308089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241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1A4C16-F434-465A-ADD5-D05244F0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00250"/>
            <a:ext cx="1619250" cy="17907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7552CB-E5D4-43E9-9982-1B7F8C7B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28850"/>
            <a:ext cx="1276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0B0C"/>
                </a:solidFill>
              </a:defRPr>
            </a:pPr>
            <a:r>
              <a:rPr sz="1575" b="1">
                <a:solidFill>
                  <a:srgbClr val="0B0B0C"/>
                </a:solidFill>
              </a:rPr>
              <a:t>Budget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5FFFF7-571F-4ABD-9A32-EA87BF8D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00350"/>
            <a:ext cx="1276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B0B0C"/>
                </a:solidFill>
              </a:defRPr>
            </a:pPr>
            <a:r>
              <a:rPr sz="1125" b="0">
                <a:solidFill>
                  <a:srgbClr val="0B0B0C"/>
                </a:solidFill>
              </a:rPr>
              <a:t>warn at 80%, block at 100%, hard-kill above 1.5x estimate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826396-AEFB-45CD-942D-F76262E7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241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317ED8-3315-47AB-959D-87EEDE24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00250"/>
            <a:ext cx="1619250" cy="17907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863140-E130-40C3-B909-D781E013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28850"/>
            <a:ext cx="1276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0B0C"/>
                </a:solidFill>
              </a:defRPr>
            </a:pPr>
            <a:r>
              <a:rPr sz="1575" b="1">
                <a:solidFill>
                  <a:srgbClr val="0B0B0C"/>
                </a:solidFill>
              </a:rPr>
              <a:t>Model config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95817C-2D9F-49F2-88DC-C24E7A3E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00350"/>
            <a:ext cx="1276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B0B0C"/>
                </a:solidFill>
              </a:defRPr>
            </a:pPr>
            <a:r>
              <a:rPr sz="1125" b="0">
                <a:solidFill>
                  <a:srgbClr val="0B0B0C"/>
                </a:solidFill>
              </a:rPr>
              <a:t>task-to-model mapping in models.yaml; no hardcoded provider choices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019850-2858-4D35-99DA-3A4AC517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7241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-&gt;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7EE221-A996-4D3E-B5BB-5298952F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00250"/>
            <a:ext cx="1619250" cy="17907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740DC9-42A8-4FA9-81CC-4C7B0B8F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228850"/>
            <a:ext cx="1276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0B0C"/>
                </a:solidFill>
              </a:defRPr>
            </a:pPr>
            <a:r>
              <a:rPr sz="1575" b="1">
                <a:solidFill>
                  <a:srgbClr val="0B0B0C"/>
                </a:solidFill>
              </a:rPr>
              <a:t>Logs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0C000B-BD75-4FD7-890C-416E1849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800350"/>
            <a:ext cx="1276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B0B0C"/>
                </a:solidFill>
              </a:defRPr>
            </a:pPr>
            <a:r>
              <a:rPr sz="1125" b="0">
                <a:solidFill>
                  <a:srgbClr val="0B0B0C"/>
                </a:solidFill>
              </a:rPr>
              <a:t>tokens, cost, latency, success, error, budget flag and trace ID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294798-E562-46AA-B429-3762F134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10363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B0B0C"/>
                </a:solidFill>
              </a:defRPr>
            </a:pPr>
            <a:r>
              <a:rPr sz="1650" b="0">
                <a:solidFill>
                  <a:srgbClr val="0B0B0C"/>
                </a:solidFill>
              </a:rPr>
              <a:t>The important intelligence choice: every AI operation passes through the same choke point before touching a provider. That makes privacy, cost, observability, model routing and structured-output validation systemic rather than optional.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56FFA5-4055-48E4-B0B1-7931B7EA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10200"/>
            <a:ext cx="64770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E25112-E4A6-4E93-9741-C8C4736B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600700"/>
            <a:ext cx="605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B0C"/>
                </a:solidFill>
              </a:defRPr>
            </a:pPr>
            <a:r>
              <a:rPr sz="1725" b="1">
                <a:solidFill>
                  <a:srgbClr val="0B0B0C"/>
                </a:solidFill>
              </a:rPr>
              <a:t>Structured output stance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292B56-A929-479F-BCC4-132000A3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6000750"/>
            <a:ext cx="6057900" cy="-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B0C"/>
                </a:solidFill>
              </a:defRPr>
            </a:pPr>
            <a:r>
              <a:rPr sz="1275" b="0">
                <a:solidFill>
                  <a:srgbClr val="0B0B0C"/>
                </a:solidFill>
              </a:rPr>
              <a:t>Model output is treated as untrusted. Verdicts are computed by deterministic code from validated JSON, not accepted as model-provided booleans.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4139F8-23F2-45F4-ACDC-48ECBCDB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CAIRN strategy platform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EE2FC3-EDCC-4B65-87A9-82064B76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15413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D39859-4639-46A6-BE60-CE995113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8F98"/>
                </a:solidFill>
              </a:defRPr>
            </a:pPr>
            <a:r>
              <a:rPr sz="1050" b="1">
                <a:solidFill>
                  <a:srgbClr val="8A8F98"/>
                </a:solidFill>
              </a:rPr>
              <a:t>COMPOUNDING KNOWLEDGE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9D32CE-694F-42B5-B094-99FD02F6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B0B0C"/>
                </a:solidFill>
              </a:defRPr>
            </a:pPr>
            <a:r>
              <a:rPr sz="3000" b="0">
                <a:solidFill>
                  <a:srgbClr val="0B0B0C"/>
                </a:solidFill>
              </a:rPr>
              <a:t>The memory engine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6763C6-4E5A-4EC5-A1BF-22389968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3F23CE-5D08-4ACF-9086-5FC62FA5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1524000" cy="14859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E40B60-78BF-4FB6-B61D-B6817CF2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62150"/>
            <a:ext cx="1181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0B0C"/>
                </a:solidFill>
              </a:defRPr>
            </a:pPr>
            <a:r>
              <a:rPr sz="1575" b="1">
                <a:solidFill>
                  <a:srgbClr val="0B0B0C"/>
                </a:solidFill>
              </a:rPr>
              <a:t>Ingest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E3DB2D-7896-468E-BC9F-2081F861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118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docs, text, URL, PDF, DOCX, voice and discovery inputs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2A907C-9E00-4C8D-A53F-28D1845F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3812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F18446-E4CD-4A38-8B73-6A6B6944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733550"/>
            <a:ext cx="1524000" cy="14859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AEA69B-B3CE-4D10-B393-C0EAA252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62150"/>
            <a:ext cx="1181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0B0C"/>
                </a:solidFill>
              </a:defRPr>
            </a:pPr>
            <a:r>
              <a:rPr sz="1575" b="1">
                <a:solidFill>
                  <a:srgbClr val="0B0B0C"/>
                </a:solidFill>
              </a:rPr>
              <a:t>Trust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2F994E-680E-4825-A97B-F5AB99B7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33650"/>
            <a:ext cx="118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source prior, quarantine and provenance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0BDB6E-163D-4273-B4F3-40305345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3812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5CDA39-92B5-4F7E-842A-F1BADF5F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33550"/>
            <a:ext cx="1524000" cy="14859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E1F6B8-D7E5-400B-BD64-0218667C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62150"/>
            <a:ext cx="1181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0B0C"/>
                </a:solidFill>
              </a:defRPr>
            </a:pPr>
            <a:r>
              <a:rPr sz="1575" b="1">
                <a:solidFill>
                  <a:srgbClr val="0B0B0C"/>
                </a:solidFill>
              </a:rPr>
              <a:t>Normalize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90BC6B-BB76-4CD7-9E39-F32B6188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33650"/>
            <a:ext cx="118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canonical proposition before embedding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D0CC08-DF12-4DAE-823B-231CC3E0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3812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00C1F2-6B30-463F-A5F3-1D82CBEB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33550"/>
            <a:ext cx="1524000" cy="14859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80CB28-7AB8-4847-A592-39128055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62150"/>
            <a:ext cx="1181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0B0C"/>
                </a:solidFill>
              </a:defRPr>
            </a:pPr>
            <a:r>
              <a:rPr sz="1575" b="1">
                <a:solidFill>
                  <a:srgbClr val="0B0B0C"/>
                </a:solidFill>
              </a:rPr>
              <a:t>Decide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1AEECD-CF06-4431-A6EC-0734FCE2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33650"/>
            <a:ext cx="118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ADD / UPDATE / SUPERSEDE / NOOP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7B4072-3344-47CE-9B77-C84AF8A5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3812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9C5AC1-6BA3-48FE-AA0E-84BADCB9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33550"/>
            <a:ext cx="1524000" cy="14859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156B90-4EDD-4FBF-980B-5E7F9CE7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62150"/>
            <a:ext cx="1181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0B0C"/>
                </a:solidFill>
              </a:defRPr>
            </a:pPr>
            <a:r>
              <a:rPr sz="1575" b="1">
                <a:solidFill>
                  <a:srgbClr val="0B0B0C"/>
                </a:solidFill>
              </a:rPr>
              <a:t>Write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16BC96-B23A-45FF-BEC1-F0DA4015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33650"/>
            <a:ext cx="118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bi-temporal valid_at, invalid_at, ingested_at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0783C4-5C49-4D68-A8A5-A2E5EA6C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3812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-&gt;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CD482C-8C23-46BA-8692-F5DD2060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733550"/>
            <a:ext cx="1524000" cy="14859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F0A95D-258D-489B-A461-BD215F52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962150"/>
            <a:ext cx="1181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0B0C"/>
                </a:solidFill>
              </a:defRPr>
            </a:pPr>
            <a:r>
              <a:rPr sz="1575" b="1">
                <a:solidFill>
                  <a:srgbClr val="0B0B0C"/>
                </a:solidFill>
              </a:rPr>
              <a:t>Retrieve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78C21A-2BEF-4ECD-82FD-CF6A7801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533650"/>
            <a:ext cx="118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dense + BM25 + graph hop + RRF + MMR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C4C064-A5E7-42F1-8308-7B152F45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49530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33A3AB-52B6-464B-B36B-0B31FAB8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4812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B0C"/>
                </a:solidFill>
              </a:defRPr>
            </a:pPr>
            <a:r>
              <a:rPr sz="1725" b="1">
                <a:solidFill>
                  <a:srgbClr val="0B0B0C"/>
                </a:solidFill>
              </a:rPr>
              <a:t>Why bi-temporal matters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E95597-8349-406A-AB54-42089D41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48175"/>
            <a:ext cx="453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B0C"/>
                </a:solidFill>
              </a:defRPr>
            </a:pPr>
            <a:r>
              <a:rPr sz="1275" b="0">
                <a:solidFill>
                  <a:srgbClr val="0B0B0C"/>
                </a:solidFill>
              </a:rPr>
              <a:t>Strategy needs to know what was believed when a past decision was made. Cairn supersedes rather than destructively updating, preserving history for calibration and review.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1854AD-1AA9-486A-ACCC-AE5F0B07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57625"/>
            <a:ext cx="49530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F98248-617D-421E-8273-22337180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4812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B0C"/>
                </a:solidFill>
              </a:defRPr>
            </a:pPr>
            <a:r>
              <a:rPr sz="1725" b="1">
                <a:solidFill>
                  <a:srgbClr val="0B0B0C"/>
                </a:solidFill>
              </a:rPr>
              <a:t>Why dimensional tags matter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5A4350-9406-438E-B613-959F6D29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448175"/>
            <a:ext cx="453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B0C"/>
                </a:solidFill>
              </a:defRPr>
            </a:pPr>
            <a:r>
              <a:rPr sz="1275" b="0">
                <a:solidFill>
                  <a:srgbClr val="0B0B0C"/>
                </a:solidFill>
              </a:rPr>
              <a:t>Memory carries market, segment, product, geo, channel, tech, capability, framework and horizon tags so retrieval can be specific without dumping context into prompts.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471DD9-05C5-41DF-BB9E-85CD0B7D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81650"/>
            <a:ext cx="9982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B0B0C"/>
                </a:solidFill>
              </a:defRPr>
            </a:pPr>
            <a:r>
              <a:rPr sz="1650" b="0">
                <a:solidFill>
                  <a:srgbClr val="0B0B0C"/>
                </a:solidFill>
              </a:rPr>
              <a:t>This is the moat: the app is designed to remember, refine, contradict, decay, consolidate and retrieve strategic knowledge with provenance.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96D604-0D09-44C8-8EB5-000FEF84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CAIRN strategy platform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49CA12-61FA-460B-B775-11CC0731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71366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C01895-504C-4E28-9484-A47F4AFD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8F98"/>
                </a:solidFill>
              </a:defRPr>
            </a:pPr>
            <a:r>
              <a:rPr sz="1050" b="1">
                <a:solidFill>
                  <a:srgbClr val="8A8F98"/>
                </a:solidFill>
              </a:rPr>
              <a:t>MEASURABLE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97A8DA-B593-4D28-B6CA-637B3B54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B0B0C"/>
                </a:solidFill>
              </a:defRPr>
            </a:pPr>
            <a:r>
              <a:rPr sz="3000" b="0">
                <a:solidFill>
                  <a:srgbClr val="0B0B0C"/>
                </a:solidFill>
              </a:rPr>
              <a:t>Prediction ledger to learning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D218CA-E750-45EF-8A1B-7BCEDFC5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EE9649-5CFF-4F72-88A1-425098F1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66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2CAA5C-342E-41CB-8D68-6878AFE3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6478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6D3AF-E845-4018-9DCA-9F7CABDC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5906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B0C"/>
                </a:solidFill>
              </a:defRPr>
            </a:pPr>
            <a:r>
              <a:rPr sz="1800" b="1">
                <a:solidFill>
                  <a:srgbClr val="0B0B0C"/>
                </a:solidFill>
              </a:rPr>
              <a:t>Claim emitted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36482C-154E-4977-BDFF-01854DFA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1925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agent produces strategic assertion with confidence, horizon and framework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827E2D-D816-497E-BD98-11AA9FBE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66925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3C4916-1036-4848-8D3E-6CAEF52C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52675"/>
            <a:ext cx="66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C"/>
          </a:solidFill>
          <a:ln xmlns:a="http://schemas.openxmlformats.org/drawingml/2006/main" w="0">
            <a:solidFill>
              <a:srgbClr val="0B0B0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CD4670-B304-4999-9382-1935F07B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288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0FD483-DBE6-46C5-9A6D-666C2FFB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3717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B0C"/>
                </a:solidFill>
              </a:defRPr>
            </a:pPr>
            <a:r>
              <a:rPr sz="1800" b="1">
                <a:solidFill>
                  <a:srgbClr val="0B0B0C"/>
                </a:solidFill>
              </a:rPr>
              <a:t>Prediction recorded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7DA278-884E-450B-8EC0-32419A38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0030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same transaction, company-scoped, linked to user/project/session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84F9CB-CC50-4A65-803F-D14C0BB7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47975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B13EDC-18A0-4D5A-8EAB-57B7ABE9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33725"/>
            <a:ext cx="66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C"/>
          </a:solidFill>
          <a:ln xmlns:a="http://schemas.openxmlformats.org/drawingml/2006/main" w="0">
            <a:solidFill>
              <a:srgbClr val="0B0B0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A4F291-E8F5-47D8-A148-8C424EE9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099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101D4C-AF2A-4417-9573-130F1023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1527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B0C"/>
                </a:solidFill>
              </a:defRPr>
            </a:pPr>
            <a:r>
              <a:rPr sz="1800" b="1">
                <a:solidFill>
                  <a:srgbClr val="0B0B0C"/>
                </a:solidFill>
              </a:rPr>
              <a:t>Outcome closes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D2DAA8-842D-4E3B-8A2E-9D6D44AB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8135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real or synthetic outcome is attached with evidence and measured 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069460-7CC1-4B81-A81E-1F88D233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29025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578BEA-B444-40D4-825C-A8097596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14775"/>
            <a:ext cx="66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C"/>
          </a:solidFill>
          <a:ln xmlns:a="http://schemas.openxmlformats.org/drawingml/2006/main" w="0">
            <a:solidFill>
              <a:srgbClr val="0B0B0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2A83A4-D81D-402C-9F4B-C29CF7CA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909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3B932A-ACF2-40D5-897C-FA5F98B2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9338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B0C"/>
                </a:solidFill>
              </a:defRPr>
            </a:pPr>
            <a:r>
              <a:rPr sz="1800" b="1">
                <a:solidFill>
                  <a:srgbClr val="0B0B0C"/>
                </a:solidFill>
              </a:rPr>
              <a:t>Calibration scores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35D16B-CEF8-4F17-A2B7-9A23AB28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6240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Brier and Murphy reliability / resolution / uncertainty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394D24-0E80-4FC3-B3F8-34993C8C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10075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DD0C0D-293D-401A-964A-0067C489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95825"/>
            <a:ext cx="66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C"/>
          </a:solidFill>
          <a:ln xmlns:a="http://schemas.openxmlformats.org/drawingml/2006/main" w="0">
            <a:solidFill>
              <a:srgbClr val="0B0B0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328AE1-BAB8-43F1-B556-E99811D7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7720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3E1285-7513-4285-BD1D-4891F3C7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7148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B0C"/>
                </a:solidFill>
              </a:defRPr>
            </a:pPr>
            <a:r>
              <a:rPr sz="1800" b="1">
                <a:solidFill>
                  <a:srgbClr val="0B0B0C"/>
                </a:solidFill>
              </a:rPr>
              <a:t>Patterns promote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3AB50E-9C99-405C-BC25-817AFE17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4345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recurring structures become playbooks when evidence clears the gate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175E73-548C-4B57-874D-71F47092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505450"/>
            <a:ext cx="409575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3614A9-CDED-44BF-940D-3AC1CA66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695950"/>
            <a:ext cx="3676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B0C"/>
                </a:solidFill>
              </a:defRPr>
            </a:pPr>
            <a:r>
              <a:rPr sz="1725" b="1">
                <a:solidFill>
                  <a:srgbClr val="0B0B0C"/>
                </a:solidFill>
              </a:rPr>
              <a:t>Synthetic is separate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FD8A5A-C6A0-4D14-9ED0-B779E8AA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096000"/>
            <a:ext cx="3676650" cy="-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B0C"/>
                </a:solidFill>
              </a:defRPr>
            </a:pPr>
            <a:r>
              <a:rPr sz="1200" b="0">
                <a:solidFill>
                  <a:srgbClr val="0B0B0C"/>
                </a:solidFill>
              </a:rPr>
              <a:t>War-games and simulations are tagged synthetic so abundant cheap simulated outcomes never distort real-world calibration.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4A842A-AB34-4689-A2D8-1D45441C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CAIRN strategy platform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8051A9-286A-46AF-897C-4132A935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279523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B9DBED-9D7D-4941-BAD7-3289C1E9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8F98"/>
                </a:solidFill>
              </a:defRPr>
            </a:pPr>
            <a:r>
              <a:rPr sz="1050" b="1">
                <a:solidFill>
                  <a:srgbClr val="8A8F98"/>
                </a:solidFill>
              </a:rPr>
              <a:t>FEATURE FAMILY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215F47-FED6-4EA3-A1A5-077C44F2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B0B0C"/>
                </a:solidFill>
              </a:defRPr>
            </a:pPr>
            <a:r>
              <a:rPr sz="3000" b="0">
                <a:solidFill>
                  <a:srgbClr val="0B0B0C"/>
                </a:solidFill>
              </a:rPr>
              <a:t>Strategy intake: multiple ways to feed the brain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72D617-3980-4E8F-A209-A6474F44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B751B6-0237-4139-9B04-4B3D3BBA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3429000" cy="1190625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11489D-8249-4E31-9CB4-E3D36EB9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B0C"/>
                </a:solidFill>
              </a:defRPr>
            </a:pPr>
            <a:r>
              <a:rPr sz="1725" b="1">
                <a:solidFill>
                  <a:srgbClr val="0B0B0C"/>
                </a:solidFill>
              </a:rPr>
              <a:t>Universal ingest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981233-C139-4B8E-B09A-85205E8C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3009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B0C"/>
                </a:solidFill>
              </a:defRPr>
            </a:pPr>
            <a:r>
              <a:rPr sz="1275" b="0">
                <a:solidFill>
                  <a:srgbClr val="0B0B0C"/>
                </a:solidFill>
              </a:rPr>
              <a:t>Text, markdown, HTML, URL, PDF and DOCX are live; audio, video and image ingestion are explicitly pending.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B75AD-7EBC-4644-927C-FEF18E34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19250"/>
            <a:ext cx="3429000" cy="1190625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E3D6"/>
          </a:solidFill>
          <a:ln xmlns:a="http://schemas.openxmlformats.org/drawingml/2006/main" w="0">
            <a:solidFill>
              <a:srgbClr val="FFE3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953E86-A470-400C-8BE6-30F6EF30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097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6B35"/>
                </a:solidFill>
              </a:defRPr>
            </a:pPr>
            <a:r>
              <a:rPr sz="1725" b="1">
                <a:solidFill>
                  <a:srgbClr val="FF6B35"/>
                </a:solidFill>
              </a:rPr>
              <a:t>Discovery / Digital Twin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C42E2F-8A19-428B-BD72-74A58262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09800"/>
            <a:ext cx="3009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B0C"/>
                </a:solidFill>
              </a:defRPr>
            </a:pPr>
            <a:r>
              <a:rPr sz="1275" b="0">
                <a:solidFill>
                  <a:srgbClr val="0B0B0C"/>
                </a:solidFill>
              </a:rPr>
              <a:t>Dimension-steered interview, graded coverage, funnel gates, persistence and AI transformation strategy synthesis.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6A7A55-A3AE-4CA4-98FE-019D6CE2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19250"/>
            <a:ext cx="3429000" cy="1190625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E19795-C7EF-4DBC-8E05-3E9D377C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097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B0C"/>
                </a:solidFill>
              </a:defRPr>
            </a:pPr>
            <a:r>
              <a:rPr sz="1725" b="1">
                <a:solidFill>
                  <a:srgbClr val="0B0B0C"/>
                </a:solidFill>
              </a:rPr>
              <a:t>Brainstorm mode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C50BA4-3227-47E7-861E-ADFB5674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09800"/>
            <a:ext cx="3009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B0C"/>
                </a:solidFill>
              </a:defRPr>
            </a:pPr>
            <a:r>
              <a:rPr sz="1275" b="0">
                <a:solidFill>
                  <a:srgbClr val="0B0B0C"/>
                </a:solidFill>
              </a:rPr>
              <a:t>Four-phase thinking surface with silent extractors for hypotheses, options, assumptions, risks and open questions.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088B37-3D8E-4C53-898E-0A3C0FB9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86125"/>
            <a:ext cx="3429000" cy="1190625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2ACE67-54D2-42DB-AF3C-790299ED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B0C"/>
                </a:solidFill>
              </a:defRPr>
            </a:pPr>
            <a:r>
              <a:rPr sz="1725" b="1">
                <a:solidFill>
                  <a:srgbClr val="0B0B0C"/>
                </a:solidFill>
              </a:rPr>
              <a:t>Memo dictation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B1BB87-E68E-44A0-AAA8-1744320B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76675"/>
            <a:ext cx="3009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B0C"/>
                </a:solidFill>
              </a:defRPr>
            </a:pPr>
            <a:r>
              <a:rPr sz="1275" b="0">
                <a:solidFill>
                  <a:srgbClr val="0B0B0C"/>
                </a:solidFill>
              </a:rPr>
              <a:t>Monologue becomes a structured one-page memo, preserving a fast capture-to-artifact path.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58E6D3-0728-4F9E-A015-D13C9AB9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86125"/>
            <a:ext cx="3429000" cy="1190625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AD5F8D-CE41-4995-97D7-F84D2EB6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76625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B0C"/>
                </a:solidFill>
              </a:defRPr>
            </a:pPr>
            <a:r>
              <a:rPr sz="1725" b="1">
                <a:solidFill>
                  <a:srgbClr val="0B0B0C"/>
                </a:solidFill>
              </a:rPr>
              <a:t>Advisory personas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271DC7-B577-44B4-834E-19149D86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76675"/>
            <a:ext cx="3009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B0C"/>
                </a:solidFill>
              </a:defRPr>
            </a:pPr>
            <a:r>
              <a:rPr sz="1275" b="0">
                <a:solidFill>
                  <a:srgbClr val="0B0B0C"/>
                </a:solidFill>
              </a:rPr>
              <a:t>Coach, challenger, devil's advocate and other roles let the same issue be interrogated from different angles.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91033E-5EB9-4BC6-AE6B-A48584F7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86125"/>
            <a:ext cx="3429000" cy="1190625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4ABC30-DE18-47BC-BE09-86560537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76625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B0C"/>
                </a:solidFill>
              </a:defRPr>
            </a:pPr>
            <a:r>
              <a:rPr sz="1725" b="1">
                <a:solidFill>
                  <a:srgbClr val="0B0B0C"/>
                </a:solidFill>
              </a:rPr>
              <a:t>Strategy artifacts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D795B0-0835-4567-8B5F-C1FC7E94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76675"/>
            <a:ext cx="30099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B0C"/>
                </a:solidFill>
              </a:defRPr>
            </a:pPr>
            <a:r>
              <a:rPr sz="1275" b="0">
                <a:solidFill>
                  <a:srgbClr val="0B0B0C"/>
                </a:solidFill>
              </a:rPr>
              <a:t>External strategies become first-class inputs through recognition, Share-and-Apply and apply-war-game paths.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D41591-FCC9-40F9-9787-5A708BEE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8162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B0B0C"/>
                </a:solidFill>
              </a:defRPr>
            </a:pPr>
            <a:r>
              <a:rPr sz="1575" b="0">
                <a:solidFill>
                  <a:srgbClr val="0B0B0C"/>
                </a:solidFill>
              </a:rPr>
              <a:t>The intake layer is deliberately multimodal in concept, but rigorous in storage: capture is not value until it becomes scoped memory, artifacts, predictions or execution items.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D3106B-8C95-4ABF-BE8C-57FC6330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CAIRN strategy platform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657AFF-AB41-48A7-A021-1C86C45C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951172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5DCD3F-C678-4A22-9CD2-38F39F3E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8F98"/>
                </a:solidFill>
              </a:defRPr>
            </a:pPr>
            <a:r>
              <a:rPr sz="1050" b="1">
                <a:solidFill>
                  <a:srgbClr val="8A8F98"/>
                </a:solidFill>
              </a:rPr>
              <a:t>FROM QUESTION TO TESTED RECOMMENDATION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A6A2C7-1779-47D3-9F1E-E824B860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B0B0C"/>
                </a:solidFill>
              </a:defRPr>
            </a:pPr>
            <a:r>
              <a:rPr sz="3000" b="0">
                <a:solidFill>
                  <a:srgbClr val="0B0B0C"/>
                </a:solidFill>
              </a:rPr>
              <a:t>Reasoning mesh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727E8A-6F9D-4F7E-9621-6933B071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A1D563-CC91-4051-AC15-A14D25C6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38300"/>
            <a:ext cx="3333750" cy="1447800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C5C95-B9D4-4E5E-B7E4-6FE5362A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38300"/>
            <a:ext cx="76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1DA5F7-82B1-4A74-9A1A-E127800E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B0C"/>
                </a:solidFill>
              </a:defRPr>
            </a:pPr>
            <a:r>
              <a:rPr sz="1575" b="1">
                <a:solidFill>
                  <a:srgbClr val="0B0B0C"/>
                </a:solidFill>
              </a:rPr>
              <a:t>Diagnose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E8B3C9-8EE5-41F2-B75C-A1D5DCCE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62175"/>
            <a:ext cx="3028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Reframe the question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Classify the situation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Avoid premature framework picking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03A555-B75F-45FE-9952-02B8F045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38300"/>
            <a:ext cx="3333750" cy="1447800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BB8BD3-0355-4D49-BCE5-AA86F5B9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38300"/>
            <a:ext cx="76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C"/>
          </a:solidFill>
          <a:ln xmlns:a="http://schemas.openxmlformats.org/drawingml/2006/main" w="0">
            <a:solidFill>
              <a:srgbClr val="0B0B0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2643C3-A4F4-4CB6-AE50-18077B83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9070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B0C"/>
                </a:solidFill>
              </a:defRPr>
            </a:pPr>
            <a:r>
              <a:rPr sz="1575" b="1">
                <a:solidFill>
                  <a:srgbClr val="0B0B0C"/>
                </a:solidFill>
              </a:rPr>
              <a:t>Research mesh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9D72C3-F788-42BE-B2B6-5F7D9BD7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62175"/>
            <a:ext cx="3028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Chief Strategist orchestrator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8 specialist agents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Grounded in company memory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27C3F4-3059-462A-A816-653FECA9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38300"/>
            <a:ext cx="3333750" cy="1447800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FA0A8B-66FE-45EE-93B9-FFD55402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38300"/>
            <a:ext cx="76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solidFill>
              <a:srgbClr val="D4AF3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54AA66-5599-4702-BBF3-8BCA4D9D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9070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B0C"/>
                </a:solidFill>
              </a:defRPr>
            </a:pPr>
            <a:r>
              <a:rPr sz="1575" b="1">
                <a:solidFill>
                  <a:srgbClr val="0B0B0C"/>
                </a:solidFill>
              </a:rPr>
              <a:t>Frameworks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043F7A-7A6E-4990-90BC-0BD5F5CF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62175"/>
            <a:ext cx="3028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Porter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Ansoff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JTBD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Wardley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3 Horizons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BCG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Blue Ocean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Disruption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62A62F-C85D-40EB-9A4A-CBBA6CC1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76650"/>
            <a:ext cx="3333750" cy="1447800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70AF95-779E-408A-B44A-2C9FC5E2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76650"/>
            <a:ext cx="76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C"/>
          </a:solidFill>
          <a:ln xmlns:a="http://schemas.openxmlformats.org/drawingml/2006/main" w="0">
            <a:solidFill>
              <a:srgbClr val="0B0B0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8D416E-17D4-400B-919F-B8145EB1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2905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B0C"/>
                </a:solidFill>
              </a:defRPr>
            </a:pPr>
            <a:r>
              <a:rPr sz="1575" b="1">
                <a:solidFill>
                  <a:srgbClr val="0B0B0C"/>
                </a:solidFill>
              </a:rPr>
              <a:t>Options + MCDA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6AF873-6241-4EB4-BF67-949F157E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00525"/>
            <a:ext cx="3028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Generate strategic options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Score trade-offs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Sensitivity analysis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6403FC-8024-4A25-9D3E-D09DE8DA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76650"/>
            <a:ext cx="3333750" cy="1447800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FB3B8A-4DCA-4154-92AB-8BB3DE8A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76650"/>
            <a:ext cx="76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D84C6E-8684-4DA0-9731-8785255C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82905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B0C"/>
                </a:solidFill>
              </a:defRPr>
            </a:pPr>
            <a:r>
              <a:rPr sz="1575" b="1">
                <a:solidFill>
                  <a:srgbClr val="0B0B0C"/>
                </a:solidFill>
              </a:rPr>
              <a:t>Red team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0E9A3B-C260-4D41-BA32-76656D6C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00525"/>
            <a:ext cx="3028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Hostile personas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Failure modes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Deterministic verdict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CF69DC-1376-4578-9C99-8CDDF396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76650"/>
            <a:ext cx="3333750" cy="1447800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69C2FB-4CEA-4A52-BEC7-54BB864E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76650"/>
            <a:ext cx="76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C"/>
          </a:solidFill>
          <a:ln xmlns:a="http://schemas.openxmlformats.org/drawingml/2006/main" w="0">
            <a:solidFill>
              <a:srgbClr val="0B0B0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93873B-043E-4B7F-BCF1-A0E2614F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2905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B0C"/>
                </a:solidFill>
              </a:defRPr>
            </a:pPr>
            <a:r>
              <a:rPr sz="1575" b="1">
                <a:solidFill>
                  <a:srgbClr val="0B0B0C"/>
                </a:solidFill>
              </a:rPr>
              <a:t>Contradictions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A65759-C17F-4ECB-9813-9040BB6D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00525"/>
            <a:ext cx="3028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Find conflicting beliefs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Review evidence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Resolve or quarantine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E2DF8B-4391-427A-953C-6CECD0B3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CAIRN strategy platform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282266-7F90-4099-8CEC-CAAF7173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867266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0FA41E-A1F9-4CFD-B05A-902BA59C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8F98"/>
                </a:solidFill>
              </a:defRPr>
            </a:pPr>
            <a:r>
              <a:rPr sz="1050" b="1">
                <a:solidFill>
                  <a:srgbClr val="8A8F98"/>
                </a:solidFill>
              </a:rPr>
              <a:t>TESTING THE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11CC84-5C6F-498B-8DD6-12F059CD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B0B0C"/>
                </a:solidFill>
              </a:defRPr>
            </a:pPr>
            <a:r>
              <a:rPr sz="3000" b="0">
                <a:solidFill>
                  <a:srgbClr val="0B0B0C"/>
                </a:solidFill>
              </a:rPr>
              <a:t>Simulation and financial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358B51-0136-4E35-8768-55CE7554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f58cd0b18d4e4a"/>
          <a:srcRect xmlns:a="http://schemas.openxmlformats.org/drawingml/2006/main" l="0" t="1111" r="0" b="11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581150"/>
            <a:ext cx="5143500" cy="3143250"/>
          </a:xfrm>
          <a:prstGeom xmlns:a="http://schemas.openxmlformats.org/drawingml/2006/main" prst="roundRect">
            <a:avLst>
              <a:gd name="adj" fmla="val 1818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85B86E-015A-43B4-8571-4E0AE4DA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71625"/>
            <a:ext cx="257175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A553A5-81D7-4B0A-AF39-55E39ADC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62125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B0C"/>
                </a:solidFill>
              </a:defRPr>
            </a:pPr>
            <a:r>
              <a:rPr sz="1725" b="1">
                <a:solidFill>
                  <a:srgbClr val="0B0B0C"/>
                </a:solidFill>
              </a:rPr>
              <a:t>War-game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F73821-B1D2-42BD-9276-0E35B8ED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62175"/>
            <a:ext cx="21526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B0C"/>
                </a:solidFill>
              </a:defRPr>
            </a:pPr>
            <a:r>
              <a:rPr sz="1275" b="0">
                <a:solidFill>
                  <a:srgbClr val="0B0B0C"/>
                </a:solidFill>
              </a:rPr>
              <a:t>Four-arena simulation across customer, talent, capital and regulator lenses. Writes synthetic outcomes to the ledger.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703104-EBA5-45F6-A0F3-A90C959B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571625"/>
            <a:ext cx="257175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1368BD-8DA4-4B93-85E9-BBF94965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762125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B0C"/>
                </a:solidFill>
              </a:defRPr>
            </a:pPr>
            <a:r>
              <a:rPr sz="1725" b="1">
                <a:solidFill>
                  <a:srgbClr val="0B0B0C"/>
                </a:solidFill>
              </a:rPr>
              <a:t>Cross-company shock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279959-BF39-4A6D-918B-158FFEBB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62175"/>
            <a:ext cx="21526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B0C"/>
                </a:solidFill>
              </a:defRPr>
            </a:pPr>
            <a:r>
              <a:rPr sz="1275" b="0">
                <a:solidFill>
                  <a:srgbClr val="0B0B0C"/>
                </a:solidFill>
              </a:rPr>
              <a:t>GP-only simulation of one shock across multiple portcos with explicit cross-company safeguards.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48FFCB-B625-4708-803D-E37256E3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90875"/>
            <a:ext cx="257175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E3D6"/>
          </a:solidFill>
          <a:ln xmlns:a="http://schemas.openxmlformats.org/drawingml/2006/main" w="0">
            <a:solidFill>
              <a:srgbClr val="FFE3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D91DC6-BC87-4120-A90E-EEE13234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81375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6B35"/>
                </a:solidFill>
              </a:defRPr>
            </a:pPr>
            <a:r>
              <a:rPr sz="1725" b="1">
                <a:solidFill>
                  <a:srgbClr val="FF6B35"/>
                </a:solidFill>
              </a:rPr>
              <a:t>Monte Carlo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AC4E93-F671-40B5-8645-ABA74338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81425"/>
            <a:ext cx="2152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B0C"/>
                </a:solidFill>
              </a:defRPr>
            </a:pPr>
            <a:r>
              <a:rPr sz="1275" b="0">
                <a:solidFill>
                  <a:srgbClr val="0B0B0C"/>
                </a:solidFill>
              </a:rPr>
              <a:t>Seeded NPV / IRR risk engine with mean, median, variance, P10-P90, probability of loss, VaR, CVaR and Sharpe.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703FFD-5320-4DCF-ABE1-B1E0EC32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90875"/>
            <a:ext cx="257175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E70B44-681B-4A02-893E-327D8C11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81375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B0C"/>
                </a:solidFill>
              </a:defRPr>
            </a:pPr>
            <a:r>
              <a:rPr sz="1725" b="1">
                <a:solidFill>
                  <a:srgbClr val="0B0B0C"/>
                </a:solidFill>
              </a:rPr>
              <a:t>Dual currency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7FC57F-CE1D-4FCF-A9D7-55EF34DA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781425"/>
            <a:ext cx="2152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B0C"/>
                </a:solidFill>
              </a:defRPr>
            </a:pPr>
            <a:r>
              <a:rPr sz="1275" b="0">
                <a:solidFill>
                  <a:srgbClr val="0B0B0C"/>
                </a:solidFill>
              </a:rPr>
              <a:t>Pure USD &lt;-&gt; INR-Crore conversion and formatting; live FX tool is a documented follow-up.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950079-8E76-4CC9-BA7A-94B49208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292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B0B0C"/>
                </a:solidFill>
              </a:defRPr>
            </a:pPr>
            <a:r>
              <a:rPr sz="1650" b="0">
                <a:solidFill>
                  <a:srgbClr val="0B0B0C"/>
                </a:solidFill>
              </a:rPr>
              <a:t>The key shift: strategy choices can be pressure-tested probabilistically and logged as evidence, rather than left as narrative confidence.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2047D5-92A8-4374-AD29-72D767A5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CAIRN strategy platform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47135F-4A52-4015-9895-E29C9B7D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743593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85B5F9-ACB4-4828-A76F-691E64B1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8F98"/>
                </a:solidFill>
              </a:defRPr>
            </a:pPr>
            <a:r>
              <a:rPr sz="1050" b="1">
                <a:solidFill>
                  <a:srgbClr val="8A8F98"/>
                </a:solidFill>
              </a:rPr>
              <a:t>OPERATOR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386A06-3605-427C-90CD-ED23010A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B0B0C"/>
                </a:solidFill>
              </a:defRPr>
            </a:pPr>
            <a:r>
              <a:rPr sz="3000" b="0">
                <a:solidFill>
                  <a:srgbClr val="0B0B0C"/>
                </a:solidFill>
              </a:rPr>
              <a:t>Strategy to execution bridge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F798A2-22DF-4952-B9D9-C30DAD73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7411FC-DD6D-4A90-8E65-D20B0AB4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9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C"/>
          </a:solidFill>
          <a:ln xmlns:a="http://schemas.openxmlformats.org/drawingml/2006/main" w="0">
            <a:solidFill>
              <a:srgbClr val="0B0B0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A25627-E5A2-4723-A002-70C54CC2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478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C"/>
                </a:solidFill>
              </a:defRPr>
            </a:pPr>
            <a:r>
              <a:rPr sz="1650" b="1">
                <a:solidFill>
                  <a:srgbClr val="0B0B0C"/>
                </a:solidFill>
              </a:rPr>
              <a:t>Decomposer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5FA0D9-0A54-4C77-AECB-E9545CA8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657350"/>
            <a:ext cx="7953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B0C"/>
                </a:solidFill>
              </a:defRPr>
            </a:pPr>
            <a:r>
              <a:rPr sz="1350" b="0">
                <a:solidFill>
                  <a:srgbClr val="0B0B0C"/>
                </a:solidFill>
              </a:rPr>
              <a:t>Thesis -&gt; initiatives -&gt; OKRs -&gt; tasks, making strategic intent executable.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7A6550-6CF9-40B7-A7F4-7FC6E607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9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C"/>
          </a:solidFill>
          <a:ln xmlns:a="http://schemas.openxmlformats.org/drawingml/2006/main" w="0">
            <a:solidFill>
              <a:srgbClr val="0B0B0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990C08-7CA2-4FD3-ACFF-E25A16F8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288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C"/>
                </a:solidFill>
              </a:defRPr>
            </a:pPr>
            <a:r>
              <a:rPr sz="1650" b="1">
                <a:solidFill>
                  <a:srgbClr val="0B0B0C"/>
                </a:solidFill>
              </a:rPr>
              <a:t>Pre-mortem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24EDF4-939C-42D9-84D7-B6678787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438400"/>
            <a:ext cx="7953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B0C"/>
                </a:solidFill>
              </a:defRPr>
            </a:pPr>
            <a:r>
              <a:rPr sz="1350" b="0">
                <a:solidFill>
                  <a:srgbClr val="0B0B0C"/>
                </a:solidFill>
              </a:rPr>
              <a:t>Failure-first risk register before launch, so weak plans are challenged early.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4DF0A7-993C-4AA5-99EB-217535C8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9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773019-31E4-4FA2-A3F9-702325D0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99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C"/>
                </a:solidFill>
              </a:defRPr>
            </a:pPr>
            <a:r>
              <a:rPr sz="1650" b="1">
                <a:solidFill>
                  <a:srgbClr val="0B0B0C"/>
                </a:solidFill>
              </a:rPr>
              <a:t>Strategic tracker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33E1B6-8F6A-4627-9404-6FDE26CF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219450"/>
            <a:ext cx="7953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B0C"/>
                </a:solidFill>
              </a:defRPr>
            </a:pPr>
            <a:r>
              <a:rPr sz="1350" b="0">
                <a:solidFill>
                  <a:srgbClr val="0B0B0C"/>
                </a:solidFill>
              </a:rPr>
              <a:t>AI extracts KPIs, milestones and risks from strategy context, normalizes them and writes tables.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886BFF-5037-445E-A216-B3FE205A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9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C"/>
          </a:solidFill>
          <a:ln xmlns:a="http://schemas.openxmlformats.org/drawingml/2006/main" w="0">
            <a:solidFill>
              <a:srgbClr val="0B0B0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F489C0-6B3A-45F5-8657-0F27E52A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909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C"/>
                </a:solidFill>
              </a:defRPr>
            </a:pPr>
            <a:r>
              <a:rPr sz="1650" b="1">
                <a:solidFill>
                  <a:srgbClr val="0B0B0C"/>
                </a:solidFill>
              </a:rPr>
              <a:t>Drift detection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CE1754-22C7-4774-B74E-FAC95FB1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000500"/>
            <a:ext cx="7953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B0C"/>
                </a:solidFill>
              </a:defRPr>
            </a:pPr>
            <a:r>
              <a:rPr sz="1350" b="0">
                <a:solidFill>
                  <a:srgbClr val="0B0B0C"/>
                </a:solidFill>
              </a:rPr>
              <a:t>Schedule, KPI and thesis drift detection with replan suggestions.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2AE97F-D479-4F05-8F26-662FC216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9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C"/>
          </a:solidFill>
          <a:ln xmlns:a="http://schemas.openxmlformats.org/drawingml/2006/main" w="0">
            <a:solidFill>
              <a:srgbClr val="0B0B0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BC4D5B-E905-4607-B8C1-D3B9CCA4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720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C"/>
                </a:solidFill>
              </a:defRPr>
            </a:pPr>
            <a:r>
              <a:rPr sz="1650" b="1">
                <a:solidFill>
                  <a:srgbClr val="0B0B0C"/>
                </a:solidFill>
              </a:rPr>
              <a:t>Linear connector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7FDC14-A879-409A-9597-AC1B0634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781550"/>
            <a:ext cx="7953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B0C"/>
                </a:solidFill>
              </a:defRPr>
            </a:pPr>
            <a:r>
              <a:rPr sz="1350" b="0">
                <a:solidFill>
                  <a:srgbClr val="0B0B0C"/>
                </a:solidFill>
              </a:rPr>
              <a:t>Encrypted credentials, connection test, teams, issue creation and initiative push.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1AEC91-FD2D-4E5F-B8D0-26D4173F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619750"/>
            <a:ext cx="77152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EE0D3E-2444-4692-A1AC-B3A72712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810250"/>
            <a:ext cx="7296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B0C"/>
                </a:solidFill>
              </a:defRPr>
            </a:pPr>
            <a:r>
              <a:rPr sz="1725" b="1">
                <a:solidFill>
                  <a:srgbClr val="0B0B0C"/>
                </a:solidFill>
              </a:rPr>
              <a:t>Why this matters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D06583-5430-44EE-BF69-D5D42AE8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6210300"/>
            <a:ext cx="7296150" cy="-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B0C"/>
                </a:solidFill>
              </a:defRPr>
            </a:pPr>
            <a:r>
              <a:rPr sz="1275" b="0">
                <a:solidFill>
                  <a:srgbClr val="0B0B0C"/>
                </a:solidFill>
              </a:rPr>
              <a:t>The app does not stop at advice. It tries to convert strategic reasoning into tracked operating objects: KPIs, milestones, risks, tasks, connectors and drift loops.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C39614-7F3D-4DA5-B37C-34620278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CAIRN strategy platform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DD1DC9-E760-4EE7-90AC-E333E7C9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534473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504989-A7EE-411F-BA4C-8EAEC529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8F98"/>
                </a:solidFill>
              </a:defRPr>
            </a:pPr>
            <a:r>
              <a:rPr sz="1050" b="1">
                <a:solidFill>
                  <a:srgbClr val="8A8F98"/>
                </a:solidFill>
              </a:rPr>
              <a:t>CROSS-COMPANY LEVERAGE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791161-19AB-4817-8124-8E9B6EFE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B0B0C"/>
                </a:solidFill>
              </a:defRPr>
            </a:pPr>
            <a:r>
              <a:rPr sz="3000" b="0">
                <a:solidFill>
                  <a:srgbClr val="0B0B0C"/>
                </a:solidFill>
              </a:rPr>
              <a:t>Portfolio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7427BC-711F-41BA-B0D5-5A15FF46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3BB9D2-A854-40C3-8644-DBBF5728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3143250" cy="1476375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E3D6"/>
          </a:solidFill>
          <a:ln xmlns:a="http://schemas.openxmlformats.org/drawingml/2006/main" w="0">
            <a:solidFill>
              <a:srgbClr val="FFE3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97CA67-123F-4ADC-9959-E3DCC4B4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57375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6B35"/>
                </a:solidFill>
              </a:defRPr>
            </a:pPr>
            <a:r>
              <a:rPr sz="1725" b="1">
                <a:solidFill>
                  <a:srgbClr val="FF6B35"/>
                </a:solidFill>
              </a:rPr>
              <a:t>Synergy Scout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1D46B6-1AD5-47EF-B0D8-69A52FA1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57425"/>
            <a:ext cx="27241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B0C"/>
                </a:solidFill>
              </a:defRPr>
            </a:pPr>
            <a:r>
              <a:rPr sz="1275" b="0">
                <a:solidFill>
                  <a:srgbClr val="0B0B0C"/>
                </a:solidFill>
              </a:rPr>
              <a:t>Nine-axis cross-portfolio detector that can identify revenue, capability, customer, procurement, talent and technology synergies.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E5DBF5-3C47-4636-92D0-9CA69762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66875"/>
            <a:ext cx="3143250" cy="1476375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72DCC9-B603-43AD-857D-14A32EEC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857375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B0C"/>
                </a:solidFill>
              </a:defRPr>
            </a:pPr>
            <a:r>
              <a:rPr sz="1725" b="1">
                <a:solidFill>
                  <a:srgbClr val="0B0B0C"/>
                </a:solidFill>
              </a:rPr>
              <a:t>Pattern distillation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CDADDC-E4EB-4CD0-BCC8-77AC4BA6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257425"/>
            <a:ext cx="27241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B0C"/>
                </a:solidFill>
              </a:defRPr>
            </a:pPr>
            <a:r>
              <a:rPr sz="1275" b="0">
                <a:solidFill>
                  <a:srgbClr val="0B0B0C"/>
                </a:solidFill>
              </a:rPr>
              <a:t>Anonymized pattern promotion with N&gt;=3 publication gate, designed to learn from companies without exposing raw company data.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3B54DC-76BD-479A-A80E-BF7E0A4B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66875"/>
            <a:ext cx="3143250" cy="1476375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D69AF3-698D-4362-931C-052527DB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57375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B0C"/>
                </a:solidFill>
              </a:defRPr>
            </a:pPr>
            <a:r>
              <a:rPr sz="1725" b="1">
                <a:solidFill>
                  <a:srgbClr val="0B0B0C"/>
                </a:solidFill>
              </a:rPr>
              <a:t>Briefing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F2692B-265D-417B-9CBE-A7ECCFA8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57425"/>
            <a:ext cx="27241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B0C"/>
                </a:solidFill>
              </a:defRPr>
            </a:pPr>
            <a:r>
              <a:rPr sz="1275" b="0">
                <a:solidFill>
                  <a:srgbClr val="0B0B0C"/>
                </a:solidFill>
              </a:rPr>
              <a:t>Daily or weekly text briefing builder that turns platform signals into a compact read; TTS audio remains pending.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466898-3C69-4340-A2EC-8BB486A4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49530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DF0BB5-647E-492C-B3D2-CCC39E35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B0C"/>
                </a:solidFill>
              </a:defRPr>
            </a:pPr>
            <a:r>
              <a:rPr sz="1725" b="1">
                <a:solidFill>
                  <a:srgbClr val="0B0B0C"/>
                </a:solidFill>
              </a:rPr>
              <a:t>Permission 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3BD36B-5770-42EE-969B-522C36FB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4533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B0C"/>
                </a:solidFill>
              </a:defRPr>
            </a:pPr>
            <a:r>
              <a:rPr sz="1275" b="0">
                <a:solidFill>
                  <a:srgbClr val="0B0B0C"/>
                </a:solidFill>
              </a:rPr>
              <a:t>Cross-company reads are GP-only, query-validated, UI-gated and audit-logged. Each memory search remains scoped to one company.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FF6B44-7FA1-4D3E-9295-0E36B793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10000"/>
            <a:ext cx="49530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881798-1518-40F3-BAE1-56DB9473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00500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B0C"/>
                </a:solidFill>
              </a:defRPr>
            </a:pPr>
            <a:r>
              <a:rPr sz="1725" b="1">
                <a:solidFill>
                  <a:srgbClr val="0B0B0C"/>
                </a:solidFill>
              </a:rPr>
              <a:t>The portfolio thesis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7021DB-22A4-402A-873C-95F66904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00550"/>
            <a:ext cx="4533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B0C"/>
                </a:solidFill>
              </a:defRPr>
            </a:pPr>
            <a:r>
              <a:rPr sz="1275" b="0">
                <a:solidFill>
                  <a:srgbClr val="0B0B0C"/>
                </a:solidFill>
              </a:rPr>
              <a:t>The app is built to let learning compound across portcos through distilled patterns and synergies, not by blindly mixing confidential raw memory.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449637-3750-4FD7-B9FD-43B0EB42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CAIRN strategy platform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ADE013-2ABD-4A58-8350-CE3BB2E0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3578870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2731E5-6422-4727-AC62-EED1BC0B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8F98"/>
                </a:solidFill>
              </a:defRPr>
            </a:pPr>
            <a:r>
              <a:rPr sz="1050" b="1">
                <a:solidFill>
                  <a:srgbClr val="8A8F98"/>
                </a:solidFill>
              </a:rPr>
              <a:t>PERSISTENCE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CB70C2-C269-47CB-82E8-3AE6B402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B0B0C"/>
                </a:solidFill>
              </a:defRPr>
            </a:pPr>
            <a:r>
              <a:rPr sz="3000" b="0">
                <a:solidFill>
                  <a:srgbClr val="0B0B0C"/>
                </a:solidFill>
              </a:rPr>
              <a:t>Data model: 22 tables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963077-D68A-4B4A-98DA-B39067AF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83D9BE-89CA-4C4C-B442-26FBC158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47625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6AAAF-5AAD-45B3-BD7C-77BE61E3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B2951-E4F4-4B62-82DD-0A7D881C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445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B0C"/>
                </a:solidFill>
              </a:defRPr>
            </a:pPr>
            <a:r>
              <a:rPr sz="1575" b="1">
                <a:solidFill>
                  <a:srgbClr val="0B0B0C"/>
                </a:solidFill>
              </a:rPr>
              <a:t>Workspace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0D060F-F810-4B9B-B35D-3D40F1EB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47875"/>
            <a:ext cx="445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tenant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users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company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strategy_project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session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03285A-B9B7-44EF-8018-E3F8D7B9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24000"/>
            <a:ext cx="47625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09EF24-CB63-406D-B891-FCF86A31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2400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C"/>
          </a:solidFill>
          <a:ln xmlns:a="http://schemas.openxmlformats.org/drawingml/2006/main" w="0">
            <a:solidFill>
              <a:srgbClr val="0B0B0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5FA7AF-018F-4E0D-91DC-F97223D0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76400"/>
            <a:ext cx="445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B0C"/>
                </a:solidFill>
              </a:defRPr>
            </a:pPr>
            <a:r>
              <a:rPr sz="1575" b="1">
                <a:solidFill>
                  <a:srgbClr val="0B0B0C"/>
                </a:solidFill>
              </a:rPr>
              <a:t>Memory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FBD61E-C80E-4C1E-8411-D167A17C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47875"/>
            <a:ext cx="445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memory_item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contradiction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source_trust_register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E90798-E9FC-4690-BFDC-EE5484A0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47625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695777-C7ED-44C8-834E-8B834FF0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C"/>
          </a:solidFill>
          <a:ln xmlns:a="http://schemas.openxmlformats.org/drawingml/2006/main" w="0">
            <a:solidFill>
              <a:srgbClr val="0B0B0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4804D9-2B79-4DB9-8D18-A1D3D362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0350"/>
            <a:ext cx="445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B0C"/>
                </a:solidFill>
              </a:defRPr>
            </a:pPr>
            <a:r>
              <a:rPr sz="1575" b="1">
                <a:solidFill>
                  <a:srgbClr val="0B0B0C"/>
                </a:solidFill>
              </a:rPr>
              <a:t>Learning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4C2AC6-76F3-4400-BA60-95F22D85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71825"/>
            <a:ext cx="445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prediction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outcome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190013-DAF6-437D-924B-FF27D5CD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47950"/>
            <a:ext cx="47625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6E9430-5A84-4787-9050-6F2B95FB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4795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C"/>
          </a:solidFill>
          <a:ln xmlns:a="http://schemas.openxmlformats.org/drawingml/2006/main" w="0">
            <a:solidFill>
              <a:srgbClr val="0B0B0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0E5C3D-D075-44C4-8F82-F0027D34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0350"/>
            <a:ext cx="445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B0C"/>
                </a:solidFill>
              </a:defRPr>
            </a:pPr>
            <a:r>
              <a:rPr sz="1575" b="1">
                <a:solidFill>
                  <a:srgbClr val="0B0B0C"/>
                </a:solidFill>
              </a:rPr>
              <a:t>Operations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EFEFBC-4E12-4E4F-BADE-4FC563FD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71825"/>
            <a:ext cx="445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audit_log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usage_event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llm_call_log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export_job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53B2FA-4F46-4799-B913-F4B877BD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47625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05AD7C-CE53-4122-BEF0-D969B900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C"/>
          </a:solidFill>
          <a:ln xmlns:a="http://schemas.openxmlformats.org/drawingml/2006/main" w="0">
            <a:solidFill>
              <a:srgbClr val="0B0B0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0B5669-622F-47D6-9807-A523D6F1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445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B0C"/>
                </a:solidFill>
              </a:defRPr>
            </a:pPr>
            <a:r>
              <a:rPr sz="1575" b="1">
                <a:solidFill>
                  <a:srgbClr val="0B0B0C"/>
                </a:solidFill>
              </a:rPr>
              <a:t>Connectors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6838F6-3532-4C7E-B775-97BC0098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95775"/>
            <a:ext cx="445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connector_credential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connector_link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672A21-787F-4E63-88B5-6FF7524E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71900"/>
            <a:ext cx="47625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6BD9C5-F682-437D-A359-F4D9C847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7190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C"/>
          </a:solidFill>
          <a:ln xmlns:a="http://schemas.openxmlformats.org/drawingml/2006/main" w="0">
            <a:solidFill>
              <a:srgbClr val="0B0B0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FC4650-3B89-490E-B7C4-F61EF8E1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24300"/>
            <a:ext cx="445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B0C"/>
                </a:solidFill>
              </a:defRPr>
            </a:pPr>
            <a:r>
              <a:rPr sz="1575" b="1">
                <a:solidFill>
                  <a:srgbClr val="0B0B0C"/>
                </a:solidFill>
              </a:rPr>
              <a:t>Digital Twin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D387ED-DA4D-4C46-83A1-F88E735F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95775"/>
            <a:ext cx="445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digital_twin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completeness_tracking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7C1916-5F18-4DBB-A0E3-9ECFE2DF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47625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38FE27-B859-4CB1-BC5A-84D9409E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9BCB05-CF3F-4A6B-B532-1C56124F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48250"/>
            <a:ext cx="445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B0C"/>
                </a:solidFill>
              </a:defRPr>
            </a:pPr>
            <a:r>
              <a:rPr sz="1575" b="1">
                <a:solidFill>
                  <a:srgbClr val="0B0B0C"/>
                </a:solidFill>
              </a:rPr>
              <a:t>Execution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348037-71B4-4F8E-B7AC-3838EABC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9725"/>
            <a:ext cx="445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strategy_kpi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strategy_milestone</a:t>
            </a:r>
          </a:p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strategy_risk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561E3-4DF7-475B-AA74-B1B88B66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019800"/>
            <a:ext cx="910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The schema shows the product intent clearly: strategy work is not a transient chat. It is a persisted, namespaced, auditable system of claims, decisions, outcomes, memory, costs and execution objects.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7C8EDB-F262-4F48-9EFC-63720CFC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CAIRN strategy platform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AE3B8C-952B-4C8A-906B-DF1C2347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1877283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04D1A7-FFF2-4941-B6DB-14A50C8A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8F98"/>
                </a:solidFill>
              </a:defRPr>
            </a:pPr>
            <a:r>
              <a:rPr sz="1050" b="1">
                <a:solidFill>
                  <a:srgbClr val="8A8F98"/>
                </a:solidFill>
              </a:rPr>
              <a:t>COST, AUDIT, 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66F7AE-CAB5-450A-BED3-54A96C0F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B0B0C"/>
                </a:solidFill>
              </a:defRPr>
            </a:pPr>
            <a:r>
              <a:rPr sz="3000" b="0">
                <a:solidFill>
                  <a:srgbClr val="0B0B0C"/>
                </a:solidFill>
              </a:rPr>
              <a:t>Observability and governance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B2E0FC-0981-4788-AD4E-29A48A9B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BAC1D7-3256-42FF-B152-812AE16F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2381250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736E0F-D54B-4AF6-BBCF-EF0B6703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90725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D99A00"/>
                </a:solidFill>
              </a:defRPr>
            </a:pPr>
            <a:r>
              <a:rPr sz="3150" b="0">
                <a:solidFill>
                  <a:srgbClr val="D99A00"/>
                </a:solidFill>
              </a:rPr>
              <a:t>80%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8CB55A-A279-47D5-936A-EE3A4992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33675"/>
            <a:ext cx="19240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B0C"/>
                </a:solidFill>
              </a:defRPr>
            </a:pPr>
            <a:r>
              <a:rPr sz="1275" b="0">
                <a:solidFill>
                  <a:srgbClr val="0B0B0C"/>
                </a:solidFill>
              </a:rPr>
              <a:t>budget warning threshold before a model call reaches the soft dollar cap.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A3C427-CD10-4749-BBD5-C9DB4CA4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762125"/>
            <a:ext cx="2381250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E61241-E9CD-4D96-BD97-A6125068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990725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C43B3B"/>
                </a:solidFill>
              </a:defRPr>
            </a:pPr>
            <a:r>
              <a:rPr sz="3150" b="0">
                <a:solidFill>
                  <a:srgbClr val="C43B3B"/>
                </a:solidFill>
              </a:rPr>
              <a:t>100%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8FDF5F-853D-4FE3-B74A-7C4D2D6B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733675"/>
            <a:ext cx="19240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B0C"/>
                </a:solidFill>
              </a:defRPr>
            </a:pPr>
            <a:r>
              <a:rPr sz="1275" b="0">
                <a:solidFill>
                  <a:srgbClr val="0B0B0C"/>
                </a:solidFill>
              </a:rPr>
              <a:t>soft cap block point. Calls are stopped server-side, not politely suggested client-side.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DD3FF9-A332-47F5-9B72-FEA16596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62125"/>
            <a:ext cx="2381250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2AEFE-85FE-4B9B-A779-989FEA42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90725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FF6B35"/>
                </a:solidFill>
              </a:defRPr>
            </a:pPr>
            <a:r>
              <a:rPr sz="3150" b="0">
                <a:solidFill>
                  <a:srgbClr val="FF6B35"/>
                </a:solidFill>
              </a:rPr>
              <a:t>1.5x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410EE7-012B-4104-9FD4-D93D9276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33675"/>
            <a:ext cx="19240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B0C"/>
                </a:solidFill>
              </a:defRPr>
            </a:pPr>
            <a:r>
              <a:rPr sz="1275" b="0">
                <a:solidFill>
                  <a:srgbClr val="0B0B0C"/>
                </a:solidFill>
              </a:rPr>
              <a:t>hard-kill above estimate with no override path, protecting the system from runaway usage.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132E4F-3101-491B-8A22-BA6579FF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762125"/>
            <a:ext cx="2381250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EB7F1F-4BA3-4CA4-9C1A-71A09FD4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990725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B0B0C"/>
                </a:solidFill>
              </a:defRPr>
            </a:pPr>
            <a:r>
              <a:rPr sz="3150" b="0">
                <a:solidFill>
                  <a:srgbClr val="0B0B0C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4D369E-7B24-4ACD-9A33-C1D2475E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733675"/>
            <a:ext cx="19240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B0C"/>
                </a:solidFill>
              </a:defRPr>
            </a:pPr>
            <a:r>
              <a:rPr sz="1275" b="0">
                <a:solidFill>
                  <a:srgbClr val="0B0B0C"/>
                </a:solidFill>
              </a:rPr>
              <a:t>registered MCP tools: web_search, web_fetch, edgar_filings and lookup_memory.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89853A-084E-47E6-8B18-060430AF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52950"/>
            <a:ext cx="4572000" cy="109537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5A1576-EB7F-4610-8CD8-2B8E6657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743450"/>
            <a:ext cx="415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B0C"/>
                </a:solidFill>
              </a:defRPr>
            </a:pPr>
            <a:r>
              <a:rPr sz="1725" b="1">
                <a:solidFill>
                  <a:srgbClr val="0B0B0C"/>
                </a:solidFill>
              </a:rPr>
              <a:t>Tool gateway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C346FE-50B0-42AE-8829-DDEEDAD8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43500"/>
            <a:ext cx="4152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B0C"/>
                </a:solidFill>
              </a:defRPr>
            </a:pPr>
            <a:r>
              <a:rPr sz="1275" b="0">
                <a:solidFill>
                  <a:srgbClr val="0B0B0C"/>
                </a:solidFill>
              </a:rPr>
              <a:t>External tools route through the MCP gateway. The gateway exposes a declarative registry and dispatch point instead of scattering tool calls across agents.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2C4834-8EBF-484E-AC1E-00DFA10D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552950"/>
            <a:ext cx="4572000" cy="109537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5379CB-7C8D-4508-BE3D-E002D51C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743450"/>
            <a:ext cx="415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B0C"/>
                </a:solidFill>
              </a:defRPr>
            </a:pPr>
            <a:r>
              <a:rPr sz="1725" b="1">
                <a:solidFill>
                  <a:srgbClr val="0B0B0C"/>
                </a:solidFill>
              </a:rPr>
              <a:t>Cost dashboard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5F429E-47BF-4A3C-A9BB-41A46DEB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5143500"/>
            <a:ext cx="4152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B0C"/>
                </a:solidFill>
              </a:defRPr>
            </a:pPr>
            <a:r>
              <a:rPr sz="1275" b="0">
                <a:solidFill>
                  <a:srgbClr val="0B0B0C"/>
                </a:solidFill>
              </a:rPr>
              <a:t>LLM calls log model, tokens in/out, cost, latency, trace, success/error and budget-enforced status for per-user, company and session review.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83C69A-AC07-4A23-8364-394B97B4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CAIRN strategy platform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3F7BE2-171C-4340-ABBE-667DD60F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89633476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6AE385-3A47-4D1E-9BD9-8F417684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8F98"/>
                </a:solidFill>
              </a:defRPr>
            </a:pPr>
            <a:r>
              <a:rPr sz="1050" b="1">
                <a:solidFill>
                  <a:srgbClr val="8A8F98"/>
                </a:solidFill>
              </a:rPr>
              <a:t>JUNE 2026 CHANGES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977D3-0EC6-42E0-8378-B531BBA8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B0B0C"/>
                </a:solidFill>
              </a:defRPr>
            </a:pPr>
            <a:r>
              <a:rPr sz="3000" b="0">
                <a:solidFill>
                  <a:srgbClr val="0B0B0C"/>
                </a:solidFill>
              </a:rPr>
              <a:t>Recent consolidation and quality bar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0B7162-5822-4CB1-80B2-E4A39620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09271B-4717-4764-AAE1-47296563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381250" cy="1952625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6EF3EF-5504-40C7-828E-F7BB9284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FF6B35"/>
                </a:solidFill>
              </a:defRPr>
            </a:pPr>
            <a:r>
              <a:rPr sz="3150" b="0">
                <a:solidFill>
                  <a:srgbClr val="FF6B35"/>
                </a:solidFill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3DAFBD-0534-4CC9-B13D-519267BB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19240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B0C"/>
                </a:solidFill>
              </a:defRPr>
            </a:pPr>
            <a:r>
              <a:rPr sz="1275" b="0">
                <a:solidFill>
                  <a:srgbClr val="0B0B0C"/>
                </a:solidFill>
              </a:rPr>
              <a:t>ultra-audit passes over the prototype consolidation surface.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560C89-54D8-49F1-9FDA-E93E3F77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19250"/>
            <a:ext cx="2381250" cy="1952625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1E21E0-9C7F-4250-AA2C-BC91176D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47850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B0B0C"/>
                </a:solidFill>
              </a:defRPr>
            </a:pPr>
            <a:r>
              <a:rPr sz="3150" b="0">
                <a:solidFill>
                  <a:srgbClr val="0B0B0C"/>
                </a:solidFill>
              </a:rPr>
              <a:t>71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052C85-D3FE-436E-B74B-717CA86E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90800"/>
            <a:ext cx="19240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B0C"/>
                </a:solidFill>
              </a:defRPr>
            </a:pPr>
            <a:r>
              <a:rPr sz="1275" b="0">
                <a:solidFill>
                  <a:srgbClr val="0B0B0C"/>
                </a:solidFill>
              </a:rPr>
              <a:t>confirmed defects fixed across tenancy, finance, migration, logic, React/UX, cost/DoS and a11y areas.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3CD508-A193-4981-A9CC-B22AAC0E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19250"/>
            <a:ext cx="2381250" cy="1952625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A434EA-6532-477A-94A2-0BBBA751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7850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B0B0C"/>
                </a:solidFill>
              </a:defRPr>
            </a:pPr>
            <a:r>
              <a:rPr sz="3150" b="0">
                <a:solidFill>
                  <a:srgbClr val="0B0B0C"/>
                </a:solidFill>
              </a:rPr>
              <a:t>557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4C0B87-106F-4B2C-8642-D9E24FE4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90800"/>
            <a:ext cx="19240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B0C"/>
                </a:solidFill>
              </a:defRPr>
            </a:pPr>
            <a:r>
              <a:rPr sz="1275" b="0">
                <a:solidFill>
                  <a:srgbClr val="0B0B0C"/>
                </a:solidFill>
              </a:rPr>
              <a:t>tests reported passing after the campaign, up from 500 in the consolidation notes.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FC6E9E-D21F-4E3A-8BD4-99779384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19250"/>
            <a:ext cx="2381250" cy="1952625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5928CB-8511-4840-824E-9970621A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47850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FF6B35"/>
                </a:solidFill>
              </a:defRPr>
            </a:pPr>
            <a:r>
              <a:rPr sz="3150" b="0">
                <a:solidFill>
                  <a:srgbClr val="FF6B35"/>
                </a:solidFill>
              </a:rPr>
              <a:t>0003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93C225-6B0F-4398-95AC-91332847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90800"/>
            <a:ext cx="19240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B0C"/>
                </a:solidFill>
              </a:defRPr>
            </a:pPr>
            <a:r>
              <a:rPr sz="1275" b="0">
                <a:solidFill>
                  <a:srgbClr val="0B0B0C"/>
                </a:solidFill>
              </a:rPr>
              <a:t>additive migration adding Digital Twin, completeness and strategy tracking tables.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6B6077-17BE-4ABC-A5AB-FA1F4AE1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38625"/>
            <a:ext cx="4572000" cy="12192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CA475C-FDCC-4FFE-9CEB-BA602B4A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429125"/>
            <a:ext cx="415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B0C"/>
                </a:solidFill>
              </a:defRPr>
            </a:pPr>
            <a:r>
              <a:rPr sz="1725" b="1">
                <a:solidFill>
                  <a:srgbClr val="0B0B0C"/>
                </a:solidFill>
              </a:rPr>
              <a:t>What was salvaged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2039DB-F684-470A-AA19-0B280250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829175"/>
            <a:ext cx="4152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B0C"/>
                </a:solidFill>
              </a:defRPr>
            </a:pPr>
            <a:r>
              <a:rPr sz="1275" b="0">
                <a:solidFill>
                  <a:srgbClr val="0B0B0C"/>
                </a:solidFill>
              </a:rPr>
              <a:t>StrategyForge contributed Monte Carlo, dual-currency and structured-output auto-write. Dynamo contributed Digital Twin conversational intake. Both were hardened and integrated into Cairn.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460EE5-348C-4B91-A6A9-E58A790A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38625"/>
            <a:ext cx="4572000" cy="12192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CE4FD2-75BB-4608-8DF0-032E1C67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429125"/>
            <a:ext cx="415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B0C"/>
                </a:solidFill>
              </a:defRPr>
            </a:pPr>
            <a:r>
              <a:rPr sz="1725" b="1">
                <a:solidFill>
                  <a:srgbClr val="0B0B0C"/>
                </a:solidFill>
              </a:rPr>
              <a:t>What was deliberately not ported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AD5F7D-D8C8-4EC9-85B9-48BDFF9A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829175"/>
            <a:ext cx="4152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B0C"/>
                </a:solidFill>
              </a:defRPr>
            </a:pPr>
            <a:r>
              <a:rPr sz="1275" b="0">
                <a:solidFill>
                  <a:srgbClr val="0B0B0C"/>
                </a:solidFill>
              </a:rPr>
              <a:t>Fake multi-model fallback, hardcoded roadmaps/ROI, cosmetic grounding and placeholder document processing were left behind for real implementations.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1E2469-488A-4C33-A737-DD17813A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CAIRN strategy platform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C721BF-F9FC-40D0-96B2-9C029041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7808955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CD9AC3-2EEC-4F7F-94A9-FFE43DFB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8F98"/>
                </a:solidFill>
              </a:defRPr>
            </a:pPr>
            <a:r>
              <a:rPr sz="1050" b="1">
                <a:solidFill>
                  <a:srgbClr val="8A8F98"/>
                </a:solidFill>
              </a:rPr>
              <a:t>ROADMAP HONESTY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189EFE-FE67-4721-8074-03920BD5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B0B0C"/>
                </a:solidFill>
              </a:defRPr>
            </a:pPr>
            <a:r>
              <a:rPr sz="3000" b="0">
                <a:solidFill>
                  <a:srgbClr val="0B0B0C"/>
                </a:solidFill>
              </a:rPr>
              <a:t>What is still gated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FA740A-2642-4EFB-88BB-D987B58A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B842F9-B4CC-48D9-B76B-E6C9C9B7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4953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044932-BCDC-44A9-9D52-F02A1BE2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B0C"/>
                </a:solidFill>
              </a:defRPr>
            </a:pPr>
            <a:r>
              <a:rPr sz="1725" b="1">
                <a:solidFill>
                  <a:srgbClr val="0B0B0C"/>
                </a:solidFill>
              </a:rPr>
              <a:t>Realtime voice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93E80B-4B0A-43F6-BDBD-61108B4E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453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B0C"/>
                </a:solidFill>
              </a:defRPr>
            </a:pPr>
            <a:r>
              <a:rPr sz="1200" b="0">
                <a:solidFill>
                  <a:srgbClr val="0B0B0C"/>
                </a:solidFill>
              </a:rPr>
              <a:t>OpenAI Realtime / Gemini Live abstraction and persistent mini-player are not yet built.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E7C7AD-AB69-4B7A-9F6F-43276152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4953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569970-33DF-4921-921C-4876033B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14500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B0C"/>
                </a:solidFill>
              </a:defRPr>
            </a:pPr>
            <a:r>
              <a:rPr sz="1725" b="1">
                <a:solidFill>
                  <a:srgbClr val="0B0B0C"/>
                </a:solidFill>
              </a:rPr>
              <a:t>TTS playback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AF1630-61C5-40BA-93F7-59DD3774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14550"/>
            <a:ext cx="453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B0C"/>
                </a:solidFill>
              </a:defRPr>
            </a:pPr>
            <a:r>
              <a:rPr sz="1200" b="0">
                <a:solidFill>
                  <a:srgbClr val="0B0B0C"/>
                </a:solidFill>
              </a:rPr>
              <a:t>War-game and briefing audio depend on TTS infrastructure.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126981-107B-4BCA-A1D1-2A5D3EC9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4953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52A60A-94F5-4366-8940-9B30EF62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B0C"/>
                </a:solidFill>
              </a:defRPr>
            </a:pPr>
            <a:r>
              <a:rPr sz="1725" b="1">
                <a:solidFill>
                  <a:srgbClr val="0B0B0C"/>
                </a:solidFill>
              </a:rPr>
              <a:t>Vision in/out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C27061-B98F-48E1-BA91-26759827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453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B0C"/>
                </a:solidFill>
              </a:defRPr>
            </a:pPr>
            <a:r>
              <a:rPr sz="1200" b="0">
                <a:solidFill>
                  <a:srgbClr val="0B0B0C"/>
                </a:solidFill>
              </a:rPr>
              <a:t>Slides, whiteboards, chart extraction and raster diagram export are still gated.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726A40-3971-4ED5-9B7F-0B697037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4953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94D59D-2C3F-4EF1-8B49-135F7226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71800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B0C"/>
                </a:solidFill>
              </a:defRPr>
            </a:pPr>
            <a:r>
              <a:rPr sz="1725" b="1">
                <a:solidFill>
                  <a:srgbClr val="0B0B0C"/>
                </a:solidFill>
              </a:rPr>
              <a:t>Live research UI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1C1FA9-DDAE-499E-A07B-FEB346EA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71850"/>
            <a:ext cx="453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B0C"/>
                </a:solidFill>
              </a:defRPr>
            </a:pPr>
            <a:r>
              <a:rPr sz="1200" b="0">
                <a:solidFill>
                  <a:srgbClr val="0B0B0C"/>
                </a:solidFill>
              </a:rPr>
              <a:t>Research agents exist, but the streaming activity-tree view is not built.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74374A-830C-4013-98CE-56A7E4F8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38600"/>
            <a:ext cx="4953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9986DB-4202-4154-8203-D99E93E1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B0C"/>
                </a:solidFill>
              </a:defRPr>
            </a:pPr>
            <a:r>
              <a:rPr sz="1725" b="1">
                <a:solidFill>
                  <a:srgbClr val="0B0B0C"/>
                </a:solidFill>
              </a:rPr>
              <a:t>Data-dependent learning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E98669-ACE6-497C-938F-56208806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453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B0C"/>
                </a:solidFill>
              </a:defRPr>
            </a:pPr>
            <a:r>
              <a:rPr sz="1200" b="0">
                <a:solidFill>
                  <a:srgbClr val="0B0B0C"/>
                </a:solidFill>
              </a:rPr>
              <a:t>Calibration resolver and portfolio dashboard need closed predictions and portfolio data.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BE612B-F2F4-4772-BF6F-24830B80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4953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D98197-BA09-4B95-B545-89095BD8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29100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B0C"/>
                </a:solidFill>
              </a:defRPr>
            </a:pPr>
            <a:r>
              <a:rPr sz="1725" b="1">
                <a:solidFill>
                  <a:srgbClr val="0B0B0C"/>
                </a:solidFill>
              </a:rPr>
              <a:t>External connectors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FF3B45-7073-4673-B841-BED3A0EA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29150"/>
            <a:ext cx="453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0B0C"/>
                </a:solidFill>
              </a:defRPr>
            </a:pPr>
            <a:r>
              <a:rPr sz="1200" b="0">
                <a:solidFill>
                  <a:srgbClr val="0B0B0C"/>
                </a:solidFill>
              </a:rPr>
              <a:t>Linear is live; Notion, Jira, KPI data connectors, Slack and live FX remain pending or stubbed.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CD6852-0C34-430D-8D96-908F0233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721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B0B0C"/>
                </a:solidFill>
              </a:defRPr>
            </a:pPr>
            <a:r>
              <a:rPr sz="1500" b="0">
                <a:solidFill>
                  <a:srgbClr val="0B0B0C"/>
                </a:solidFill>
              </a:rPr>
              <a:t>This makes the deck credible: Cairn already has a very large code-shipped surface, while the remaining work is mostly live infra, data accumulation, richer multimodal UX and external integrations.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B3ABCE-A1DB-4F54-8353-645D3F6C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CAIRN strategy platform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53D512-F45F-4A44-BC68-8FDFF47E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11512506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7B7B2B-8253-473B-B308-148F9D3D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8F98"/>
                </a:solidFill>
              </a:defRPr>
            </a:pPr>
            <a:r>
              <a:rPr sz="1050" b="1">
                <a:solidFill>
                  <a:srgbClr val="8A8F98"/>
                </a:solidFill>
              </a:rPr>
              <a:t>POSITIONING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6C010F-E467-4A2A-B963-0323E8BE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B0B0C"/>
                </a:solidFill>
              </a:defRPr>
            </a:pPr>
            <a:r>
              <a:rPr sz="3000" b="0">
                <a:solidFill>
                  <a:srgbClr val="0B0B0C"/>
                </a:solidFill>
              </a:rPr>
              <a:t>Why it is different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CA4B5A-F053-44FD-9157-6D33D480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6AF1A6-B0EC-4EB2-9A7F-58D35ECC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95450"/>
            <a:ext cx="476250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4AAD1B-5705-44C9-9ADB-3E75AA46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885950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B0C"/>
                </a:solidFill>
              </a:defRPr>
            </a:pPr>
            <a:r>
              <a:rPr sz="1725" b="1">
                <a:solidFill>
                  <a:srgbClr val="0B0B0C"/>
                </a:solidFill>
              </a:rPr>
              <a:t>Not a chatbot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17E7D-C328-4B7E-8A5D-F3CCF2EA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286000"/>
            <a:ext cx="4343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B0C"/>
                </a:solidFill>
              </a:defRPr>
            </a:pPr>
            <a:r>
              <a:rPr sz="1275" b="0">
                <a:solidFill>
                  <a:srgbClr val="0B0B0C"/>
                </a:solidFill>
              </a:rPr>
              <a:t>The core product unit is not a conversation. It is a company-scoped strategic state: memory, claims, predictions, decisions, outcomes and execution artifacts.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65BCD3-680A-4571-BB84-FAF3CB92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695450"/>
            <a:ext cx="476250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E411A0-C49A-4F36-AC00-1889A8F0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885950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B0C"/>
                </a:solidFill>
              </a:defRPr>
            </a:pPr>
            <a:r>
              <a:rPr sz="1725" b="1">
                <a:solidFill>
                  <a:srgbClr val="0B0B0C"/>
                </a:solidFill>
              </a:rPr>
              <a:t>Not a static dashboard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EF2A10-1A82-4F48-A703-D367095D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286000"/>
            <a:ext cx="4343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B0C"/>
                </a:solidFill>
              </a:defRPr>
            </a:pPr>
            <a:r>
              <a:rPr sz="1275" b="0">
                <a:solidFill>
                  <a:srgbClr val="0B0B0C"/>
                </a:solidFill>
              </a:rPr>
              <a:t>Dashboards are one surface. Cairn also captures, reasons, researches, simulates, critiques, decomposes, tracks, audits and learns.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42E083-3A0F-491D-AA4E-D46F86EA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19500"/>
            <a:ext cx="4762500" cy="14097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FFE3D6"/>
          </a:solidFill>
          <a:ln xmlns:a="http://schemas.openxmlformats.org/drawingml/2006/main" w="0">
            <a:solidFill>
              <a:srgbClr val="FFE3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0155CC-CD0A-4EEB-8D17-B6A24A62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810000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6B35"/>
                </a:solidFill>
              </a:defRPr>
            </a:pPr>
            <a:r>
              <a:rPr sz="1725" b="1">
                <a:solidFill>
                  <a:srgbClr val="FF6B35"/>
                </a:solidFill>
              </a:rPr>
              <a:t>Not generic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341D97-8986-46D5-BF07-5E0F087A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210050"/>
            <a:ext cx="4343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B0C"/>
                </a:solidFill>
              </a:defRPr>
            </a:pPr>
            <a:r>
              <a:rPr sz="1275" b="0">
                <a:solidFill>
                  <a:srgbClr val="0B0B0C"/>
                </a:solidFill>
              </a:rPr>
              <a:t>The engine has domain-specific guardrails: diagnosis precedes frameworks, every model call is routed, every emitted claim can be measured, and portfolio learning is anonymized and gated.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DE7FC2-6582-47F7-89D7-9C7F07C6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619500"/>
            <a:ext cx="4762500" cy="14097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9E47D6-FB29-4972-A58D-F1A842BA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810000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B0C"/>
                </a:solidFill>
              </a:defRPr>
            </a:pPr>
            <a:r>
              <a:rPr sz="1725" b="1">
                <a:solidFill>
                  <a:srgbClr val="0B0B0C"/>
                </a:solidFill>
              </a:rPr>
              <a:t>The north star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F84A57-B982-457D-B391-9FA6500B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210050"/>
            <a:ext cx="4343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B0C"/>
                </a:solidFill>
              </a:defRPr>
            </a:pPr>
            <a:r>
              <a:rPr sz="1275" b="0">
                <a:solidFill>
                  <a:srgbClr val="0B0B0C"/>
                </a:solidFill>
              </a:rPr>
              <a:t>A private strategy intelligence layer where every session compounds into better context, better calibration and better reusable playbooks for the next decision.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22BB53-894E-4A52-BF94-EB48FD43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CAIRN strategy platform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80C130-9166-4CEF-855F-457FA947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74991909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914D86-7F87-47E5-A393-40E7EDCE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8F98"/>
                </a:solidFill>
              </a:defRPr>
            </a:pPr>
            <a:r>
              <a:rPr sz="1050" b="1">
                <a:solidFill>
                  <a:srgbClr val="8A8F98"/>
                </a:solidFill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95FCF-AA4B-44B2-BDF6-DA4587EE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B0B0C"/>
                </a:solidFill>
              </a:defRPr>
            </a:pPr>
            <a:r>
              <a:rPr sz="3000" b="0">
                <a:solidFill>
                  <a:srgbClr val="0B0B0C"/>
                </a:solidFill>
              </a:rPr>
              <a:t>Capability catalog, part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B3122F-7274-4524-B8AB-A5050554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F889E-989D-42C3-83DF-364492ED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9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C"/>
          </a:solidFill>
          <a:ln xmlns:a="http://schemas.openxmlformats.org/drawingml/2006/main" w="0">
            <a:solidFill>
              <a:srgbClr val="0B0B0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6AEC92-18E8-46D3-9D8F-18059D19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8592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C"/>
                </a:solidFill>
              </a:defRPr>
            </a:pPr>
            <a:r>
              <a:rPr sz="1650" b="1">
                <a:solidFill>
                  <a:srgbClr val="0B0B0C"/>
                </a:solidFill>
              </a:rPr>
              <a:t>Workspace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44EC0-F0E7-4798-B49D-30538206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695450"/>
            <a:ext cx="7667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B0C"/>
                </a:solidFill>
              </a:defRPr>
            </a:pPr>
            <a:r>
              <a:rPr sz="1350" b="0">
                <a:solidFill>
                  <a:srgbClr val="0B0B0C"/>
                </a:solidFill>
              </a:rPr>
              <a:t>Overview, Companies, Onboarding, Projects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C8CB32-9048-44BB-B24B-DF8048EE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9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C"/>
          </a:solidFill>
          <a:ln xmlns:a="http://schemas.openxmlformats.org/drawingml/2006/main" w="0">
            <a:solidFill>
              <a:srgbClr val="0B0B0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8F838F-11EC-413B-85F8-B8A43E34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0032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C"/>
                </a:solidFill>
              </a:defRPr>
            </a:pPr>
            <a:r>
              <a:rPr sz="1650" b="1">
                <a:solidFill>
                  <a:srgbClr val="0B0B0C"/>
                </a:solidFill>
              </a:rPr>
              <a:t>Knowledge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2DC45C-373B-44F8-A104-F58D1A4E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609850"/>
            <a:ext cx="7667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B0C"/>
                </a:solidFill>
              </a:defRPr>
            </a:pPr>
            <a:r>
              <a:rPr sz="1350" b="0">
                <a:solidFill>
                  <a:srgbClr val="0B0B0C"/>
                </a:solidFill>
              </a:rPr>
              <a:t>Memory, Connections, Ingest, Voice Intake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EAEBEC-99E4-40AF-BE3D-FC574423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9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F82D76-F4FF-45D3-9A22-A8B2A1A7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C"/>
                </a:solidFill>
              </a:defRPr>
            </a:pPr>
            <a:r>
              <a:rPr sz="1650" b="1">
                <a:solidFill>
                  <a:srgbClr val="0B0B0C"/>
                </a:solidFill>
              </a:rPr>
              <a:t>Intake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87A6F3-2B7C-4A86-8B38-712CCDA7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524250"/>
            <a:ext cx="7667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B0C"/>
                </a:solidFill>
              </a:defRPr>
            </a:pPr>
            <a:r>
              <a:rPr sz="1350" b="0">
                <a:solidFill>
                  <a:srgbClr val="0B0B0C"/>
                </a:solidFill>
              </a:rPr>
              <a:t>Digital Twin, Brainstorm, Memo, Personas, Strategy Artifacts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7E0117-0040-4CD8-936A-60B814D8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9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C"/>
          </a:solidFill>
          <a:ln xmlns:a="http://schemas.openxmlformats.org/drawingml/2006/main" w="0">
            <a:solidFill>
              <a:srgbClr val="0B0B0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FAA455-9D8A-4B94-880E-72F6D64C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2912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C"/>
                </a:solidFill>
              </a:defRPr>
            </a:pPr>
            <a:r>
              <a:rPr sz="1650" b="1">
                <a:solidFill>
                  <a:srgbClr val="0B0B0C"/>
                </a:solidFill>
              </a:rPr>
              <a:t>Reasoning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F279A4-A079-4A56-AB3F-0266D540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438650"/>
            <a:ext cx="7667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B0C"/>
                </a:solidFill>
              </a:defRPr>
            </a:pPr>
            <a:r>
              <a:rPr sz="1350" b="0">
                <a:solidFill>
                  <a:srgbClr val="0B0B0C"/>
                </a:solidFill>
              </a:rPr>
              <a:t>Diagnose, Research, Contradictions, Frameworks, Diagrams, Options, Red Team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50B911-1FFA-40E0-A96E-EC4F72DF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562600"/>
            <a:ext cx="78105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3A09E5-0462-43AD-9B19-A5EBF2E0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753100"/>
            <a:ext cx="7391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B0C"/>
                </a:solidFill>
              </a:defRPr>
            </a:pPr>
            <a:r>
              <a:rPr sz="1725" b="1">
                <a:solidFill>
                  <a:srgbClr val="0B0B0C"/>
                </a:solidFill>
              </a:rPr>
              <a:t>Implementation pattern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0259D0-E713-4EA0-B6C4-C73354FC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6153150"/>
            <a:ext cx="7391400" cy="-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B0C"/>
                </a:solidFill>
              </a:defRPr>
            </a:pPr>
            <a:r>
              <a:rPr sz="1275" b="0">
                <a:solidFill>
                  <a:srgbClr val="0B0B0C"/>
                </a:solidFill>
              </a:rPr>
              <a:t>Each surface generally maps route -&gt; page -&gt; tRPC router -&gt; service or agent file. That makes the app navigable despite its breadth.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142BA3-6F3A-4BC6-A15C-F575E412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CAIRN strategy platform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87223D-939F-4E9A-B929-E950415F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71253903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C8D1E7-7AA5-4D0B-8446-45FDF876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8F98"/>
                </a:solidFill>
              </a:defRPr>
            </a:pPr>
            <a:r>
              <a:rPr sz="1050" b="1">
                <a:solidFill>
                  <a:srgbClr val="8A8F98"/>
                </a:solidFill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68676B-B072-4FCE-A520-A804D2F0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B0B0C"/>
                </a:solidFill>
              </a:defRPr>
            </a:pPr>
            <a:r>
              <a:rPr sz="3000" b="0">
                <a:solidFill>
                  <a:srgbClr val="0B0B0C"/>
                </a:solidFill>
              </a:rPr>
              <a:t>Capability catalog, part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DAC04F-E475-4DE2-8CC8-E2F98EA4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91B48A-C1B7-474A-8EA0-16E3454D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9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C"/>
          </a:solidFill>
          <a:ln xmlns:a="http://schemas.openxmlformats.org/drawingml/2006/main" w="0">
            <a:solidFill>
              <a:srgbClr val="0B0B0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D3D7D9-4237-48D8-BDBD-397A88AD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90675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C"/>
                </a:solidFill>
              </a:defRPr>
            </a:pPr>
            <a:r>
              <a:rPr sz="1650" b="1">
                <a:solidFill>
                  <a:srgbClr val="0B0B0C"/>
                </a:solidFill>
              </a:rPr>
              <a:t>Simulation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CBAA15-29ED-4A2C-9E56-ED70877A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600200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B0C"/>
                </a:solidFill>
              </a:defRPr>
            </a:pPr>
            <a:r>
              <a:rPr sz="1350" b="0">
                <a:solidFill>
                  <a:srgbClr val="0B0B0C"/>
                </a:solidFill>
              </a:rPr>
              <a:t>War-Game, Cross-Co War-Game, Financial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6D99FA-F61B-4D3D-AE8F-825BCD5A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9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87E626-879C-46A6-8355-B60487CB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9825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C"/>
                </a:solidFill>
              </a:defRPr>
            </a:pPr>
            <a:r>
              <a:rPr sz="1650" b="1">
                <a:solidFill>
                  <a:srgbClr val="0B0B0C"/>
                </a:solidFill>
              </a:rPr>
              <a:t>Execution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6229E4-1B6E-454F-852E-D461BA26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19350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B0C"/>
                </a:solidFill>
              </a:defRPr>
            </a:pPr>
            <a:r>
              <a:rPr sz="1350" b="0">
                <a:solidFill>
                  <a:srgbClr val="0B0B0C"/>
                </a:solidFill>
              </a:rPr>
              <a:t>Decompose, Pre-Mortem, Drift, KPI Library, Strategic Tracker, Linear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03CA5-F8E5-421E-9493-6402036F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9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C"/>
          </a:solidFill>
          <a:ln xmlns:a="http://schemas.openxmlformats.org/drawingml/2006/main" w="0">
            <a:solidFill>
              <a:srgbClr val="0B0B0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C1DC9F-1050-4179-B203-49590D9E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28975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C"/>
                </a:solidFill>
              </a:defRPr>
            </a:pPr>
            <a:r>
              <a:rPr sz="1650" b="1">
                <a:solidFill>
                  <a:srgbClr val="0B0B0C"/>
                </a:solidFill>
              </a:rPr>
              <a:t>Learning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A2D694-F1D9-4081-A4C2-43F1F1B3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238500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B0C"/>
                </a:solidFill>
              </a:defRPr>
            </a:pPr>
            <a:r>
              <a:rPr sz="1350" b="0">
                <a:solidFill>
                  <a:srgbClr val="0B0B0C"/>
                </a:solidFill>
              </a:rPr>
              <a:t>Predictions, Calibration, Attribution, Constitutional Audit, Playbooks, Pattern Mining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D8975A-417E-4456-A521-B3526034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9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C"/>
          </a:solidFill>
          <a:ln xmlns:a="http://schemas.openxmlformats.org/drawingml/2006/main" w="0">
            <a:solidFill>
              <a:srgbClr val="0B0B0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BA6706-E697-462A-9795-EB693649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48125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C"/>
                </a:solidFill>
              </a:defRPr>
            </a:pPr>
            <a:r>
              <a:rPr sz="1650" b="1">
                <a:solidFill>
                  <a:srgbClr val="0B0B0C"/>
                </a:solidFill>
              </a:rPr>
              <a:t>Portfolio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099180-210D-4DE4-90E5-5C0D0E78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057650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B0C"/>
                </a:solidFill>
              </a:defRPr>
            </a:pPr>
            <a:r>
              <a:rPr sz="1350" b="0">
                <a:solidFill>
                  <a:srgbClr val="0B0B0C"/>
                </a:solidFill>
              </a:rPr>
              <a:t>Synergy Scout, Pattern Distillation, Briefing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26BB1B-B13E-4F88-8C2E-63D0584E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9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C"/>
          </a:solidFill>
          <a:ln xmlns:a="http://schemas.openxmlformats.org/drawingml/2006/main" w="0">
            <a:solidFill>
              <a:srgbClr val="0B0B0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EF15C6-D6F3-45ED-B3EE-7C2451B7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67275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C"/>
                </a:solidFill>
              </a:defRPr>
            </a:pPr>
            <a:r>
              <a:rPr sz="1650" b="1">
                <a:solidFill>
                  <a:srgbClr val="0B0B0C"/>
                </a:solidFill>
              </a:rPr>
              <a:t>Operations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B0E181-B545-41DD-BF6B-B1B98312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876800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B0C"/>
                </a:solidFill>
              </a:defRPr>
            </a:pPr>
            <a:r>
              <a:rPr sz="1350" b="0">
                <a:solidFill>
                  <a:srgbClr val="0B0B0C"/>
                </a:solidFill>
              </a:rPr>
              <a:t>Cost Dashboard, Audit Log, Usage Events, Export, Connectors, MCP Tools, Users, Manual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DD3C45-44BC-479A-8191-3D2FCC20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8293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B0B0C"/>
                </a:solidFill>
              </a:defRPr>
            </a:pPr>
            <a:r>
              <a:rPr sz="1500" b="0">
                <a:solidFill>
                  <a:srgbClr val="0B0B0C"/>
                </a:solidFill>
              </a:rPr>
              <a:t>The breadth is already visible in the UI navigation, but the stronger story is underneath: controlled AI routing, bi-temporal memory, prediction-ledger measurement and portfolio-safe learning.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A360B1-D3BD-464A-9AB4-7A76AE59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CAIRN strategy platform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6EC95A-7015-43B6-93BE-F9CCE780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3543982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2026-06-30T07:51:49.2550000Z</dcterms:created>
  <dcterms:modified xsi:type="dcterms:W3CDTF">2026-06-30T07:51:49.2550000Z</dcterms:modified>
</coreProperties>
</file>